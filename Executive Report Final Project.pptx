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1EA1EE5-408A-4F64-9220-C6497675415C}">
  <a:tblStyle styleId="{51EA1EE5-408A-4F64-9220-C6497675415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c861b15483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c861b15483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8918d9c7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8918d9c7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c8918d9c72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c8918d9c72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c8918d9c72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c8918d9c72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c8918d9c72_0_1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c8918d9c72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c8918d9c72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c8918d9c72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c8918d9c72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c8918d9c72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c8918d9c72_0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c8918d9c72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c8918d9c72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c8918d9c72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c8918d9c72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c8918d9c72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c8918d9c72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c8918d9c72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c8918d9c72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c8918d9c72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c8918d9c72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c8918d9c72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8918d9c72_0_1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8918d9c72_0_1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8918d9c72_0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8918d9c72_0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9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jp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jp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jp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hyperlink" Target="https://www.revshells.com/" TargetMode="External"/><Relationship Id="rId7" Type="http://schemas.openxmlformats.org/officeDocument/2006/relationships/image" Target="../media/image8.png"/><Relationship Id="rId8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jp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805600" y="519150"/>
            <a:ext cx="8058000" cy="308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5600">
                <a:latin typeface="Liberation Sans"/>
                <a:ea typeface="Liberation Sans"/>
                <a:cs typeface="Liberation Sans"/>
                <a:sym typeface="Liberation Sans"/>
              </a:rPr>
              <a:t>Executive</a:t>
            </a:r>
            <a:r>
              <a:rPr b="1" lang="es" sz="5600">
                <a:latin typeface="Liberation Sans"/>
                <a:ea typeface="Liberation Sans"/>
                <a:cs typeface="Liberation Sans"/>
                <a:sym typeface="Liberation Sans"/>
              </a:rPr>
              <a:t> Report: </a:t>
            </a:r>
            <a:endParaRPr b="1" sz="5600">
              <a:latin typeface="Liberation Sans"/>
              <a:ea typeface="Liberation Sans"/>
              <a:cs typeface="Liberation Sans"/>
              <a:sym typeface="Liberation Sans"/>
            </a:endParaRPr>
          </a:p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b="1" lang="es" sz="6700">
                <a:latin typeface="Liberation Sans"/>
                <a:ea typeface="Liberation Sans"/>
                <a:cs typeface="Liberation Sans"/>
                <a:sym typeface="Liberation Sans"/>
              </a:rPr>
              <a:t>Final Project</a:t>
            </a:r>
            <a:endParaRPr sz="750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231375" y="24240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000">
                <a:solidFill>
                  <a:schemeClr val="lt1"/>
                </a:solidFill>
              </a:rPr>
              <a:t>Francisco José Morante Lozada</a:t>
            </a:r>
            <a:endParaRPr b="1" sz="3000">
              <a:solidFill>
                <a:schemeClr val="lt1"/>
              </a:solidFill>
            </a:endParaRPr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432925" y="417927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100">
                <a:solidFill>
                  <a:schemeClr val="lt1"/>
                </a:solidFill>
              </a:rPr>
              <a:t>4 Geeks Academy</a:t>
            </a:r>
            <a:endParaRPr b="1" sz="2100">
              <a:solidFill>
                <a:schemeClr val="lt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100">
                <a:solidFill>
                  <a:schemeClr val="lt1"/>
                </a:solidFill>
              </a:rPr>
              <a:t>Cybersecurity Bootcamp</a:t>
            </a:r>
            <a:endParaRPr b="1" sz="2100">
              <a:solidFill>
                <a:schemeClr val="lt1"/>
              </a:solidFill>
            </a:endParaRPr>
          </a:p>
        </p:txBody>
      </p:sp>
      <p:pic>
        <p:nvPicPr>
          <p:cNvPr id="58" name="Google Shape;58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ctrTitle"/>
          </p:nvPr>
        </p:nvSpPr>
        <p:spPr>
          <a:xfrm>
            <a:off x="623400" y="108775"/>
            <a:ext cx="8520600" cy="87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1200"/>
              </a:spcBef>
              <a:spcAft>
                <a:spcPts val="600"/>
              </a:spcAft>
              <a:buNone/>
            </a:pPr>
            <a:r>
              <a:rPr b="1" lang="es" sz="4300">
                <a:solidFill>
                  <a:schemeClr val="lt1"/>
                </a:solidFill>
                <a:latin typeface="Liberation Sans"/>
                <a:ea typeface="Liberation Sans"/>
                <a:cs typeface="Liberation Sans"/>
                <a:sym typeface="Liberation Sans"/>
              </a:rPr>
              <a:t>Index</a:t>
            </a:r>
            <a:endParaRPr sz="5100">
              <a:solidFill>
                <a:schemeClr val="lt1"/>
              </a:solidFill>
            </a:endParaRPr>
          </a:p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453100" y="979675"/>
            <a:ext cx="4646400" cy="244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2300">
                <a:solidFill>
                  <a:schemeClr val="dk1"/>
                </a:solidFill>
              </a:rPr>
              <a:t>Phase 1, Forensic Autopsy:</a:t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es" sz="2300">
                <a:solidFill>
                  <a:schemeClr val="dk1"/>
                </a:solidFill>
              </a:rPr>
              <a:t>Recognition</a:t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es" sz="2300">
                <a:solidFill>
                  <a:schemeClr val="dk1"/>
                </a:solidFill>
              </a:rPr>
              <a:t>Suspicious Findings</a:t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es" sz="2300">
                <a:solidFill>
                  <a:schemeClr val="dk1"/>
                </a:solidFill>
              </a:rPr>
              <a:t>Conclusions</a:t>
            </a:r>
            <a:endParaRPr b="1" sz="23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65" name="Google Shape;65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4"/>
          <p:cNvSpPr txBox="1"/>
          <p:nvPr/>
        </p:nvSpPr>
        <p:spPr>
          <a:xfrm>
            <a:off x="4740300" y="979675"/>
            <a:ext cx="44037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000">
                <a:solidFill>
                  <a:schemeClr val="dk1"/>
                </a:solidFill>
              </a:rPr>
              <a:t>Phase 2, Vulnerabilities and Exploitation:</a:t>
            </a:r>
            <a:endParaRPr b="1" sz="2000">
              <a:solidFill>
                <a:schemeClr val="dk1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s" sz="2000">
                <a:solidFill>
                  <a:schemeClr val="dk1"/>
                </a:solidFill>
              </a:rPr>
              <a:t>Nmap, Gobuster, WpScan, SSH, FTP</a:t>
            </a:r>
            <a:endParaRPr b="1" sz="2000">
              <a:solidFill>
                <a:schemeClr val="dk1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s" sz="2000">
                <a:solidFill>
                  <a:schemeClr val="dk1"/>
                </a:solidFill>
              </a:rPr>
              <a:t>Server Machine: Wordpress, MySQL, Journalctl</a:t>
            </a:r>
            <a:endParaRPr b="1" sz="2000">
              <a:solidFill>
                <a:schemeClr val="dk1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s" sz="2000">
                <a:solidFill>
                  <a:schemeClr val="dk1"/>
                </a:solidFill>
              </a:rPr>
              <a:t>Exploiting another Vulnerability, Backdoor</a:t>
            </a:r>
            <a:endParaRPr/>
          </a:p>
        </p:txBody>
      </p:sp>
      <p:sp>
        <p:nvSpPr>
          <p:cNvPr id="68" name="Google Shape;68;p14"/>
          <p:cNvSpPr txBox="1"/>
          <p:nvPr/>
        </p:nvSpPr>
        <p:spPr>
          <a:xfrm>
            <a:off x="453100" y="2651500"/>
            <a:ext cx="4403700" cy="164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900">
                <a:solidFill>
                  <a:schemeClr val="dk1"/>
                </a:solidFill>
              </a:rPr>
              <a:t>Phase 3, Patching &amp; Hardening</a:t>
            </a:r>
            <a:endParaRPr b="1" sz="1900">
              <a:solidFill>
                <a:schemeClr val="dk1"/>
              </a:solidFill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s" sz="1900">
                <a:solidFill>
                  <a:schemeClr val="dk1"/>
                </a:solidFill>
              </a:rPr>
              <a:t>Fixing vulnerabilities</a:t>
            </a:r>
            <a:endParaRPr b="1" sz="1900">
              <a:solidFill>
                <a:schemeClr val="dk1"/>
              </a:solidFill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s" sz="1900">
                <a:solidFill>
                  <a:schemeClr val="dk1"/>
                </a:solidFill>
              </a:rPr>
              <a:t>Hardening tools</a:t>
            </a:r>
            <a:endParaRPr b="1" sz="1900">
              <a:solidFill>
                <a:schemeClr val="dk1"/>
              </a:solidFill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s" sz="1900">
                <a:solidFill>
                  <a:schemeClr val="dk1"/>
                </a:solidFill>
              </a:rPr>
              <a:t>Incident Response Plan and Conclusions</a:t>
            </a:r>
            <a:endParaRPr b="1"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73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5"/>
          <p:cNvSpPr txBox="1"/>
          <p:nvPr/>
        </p:nvSpPr>
        <p:spPr>
          <a:xfrm>
            <a:off x="1258175" y="1039650"/>
            <a:ext cx="7605300" cy="30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900">
                <a:solidFill>
                  <a:schemeClr val="dk1"/>
                </a:solidFill>
              </a:rPr>
              <a:t>Phase 1:</a:t>
            </a:r>
            <a:endParaRPr b="1" sz="5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900">
                <a:solidFill>
                  <a:schemeClr val="dk1"/>
                </a:solidFill>
              </a:rPr>
              <a:t>Forensic </a:t>
            </a:r>
            <a:endParaRPr b="1" sz="5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900">
                <a:solidFill>
                  <a:schemeClr val="dk1"/>
                </a:solidFill>
              </a:rPr>
              <a:t>Autopsy</a:t>
            </a:r>
            <a:endParaRPr b="1" sz="5900">
              <a:solidFill>
                <a:schemeClr val="dk1"/>
              </a:solidFill>
            </a:endParaRPr>
          </a:p>
        </p:txBody>
      </p:sp>
      <p:pic>
        <p:nvPicPr>
          <p:cNvPr id="76" name="Google Shape;76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18850" y="721250"/>
            <a:ext cx="3571375" cy="3675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ctrTitle"/>
          </p:nvPr>
        </p:nvSpPr>
        <p:spPr>
          <a:xfrm>
            <a:off x="1343075" y="-226500"/>
            <a:ext cx="8298000" cy="1261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b="1" lang="es" sz="4800">
                <a:solidFill>
                  <a:schemeClr val="lt1"/>
                </a:solidFill>
              </a:rPr>
              <a:t>Phase 1: Recognition</a:t>
            </a:r>
            <a:endParaRPr b="1" sz="4800">
              <a:solidFill>
                <a:schemeClr val="lt1"/>
              </a:solidFill>
            </a:endParaRPr>
          </a:p>
        </p:txBody>
      </p:sp>
      <p:sp>
        <p:nvSpPr>
          <p:cNvPr id="82" name="Google Shape;82;p16"/>
          <p:cNvSpPr txBox="1"/>
          <p:nvPr>
            <p:ph idx="1" type="subTitle"/>
          </p:nvPr>
        </p:nvSpPr>
        <p:spPr>
          <a:xfrm>
            <a:off x="472350" y="1195225"/>
            <a:ext cx="8520600" cy="347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364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6113">
                <a:solidFill>
                  <a:schemeClr val="dk1"/>
                </a:solidFill>
              </a:rPr>
              <a:t>What is Autopsy Digital Forensic?</a:t>
            </a:r>
            <a:endParaRPr b="1" sz="6113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716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391">
                <a:solidFill>
                  <a:schemeClr val="dk1"/>
                </a:solidFill>
              </a:rPr>
              <a:t>Why is it important for the Recognition?</a:t>
            </a:r>
            <a:endParaRPr b="1" sz="539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83" name="Google Shape;83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34613" y="1035000"/>
            <a:ext cx="6074775" cy="362355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/>
          <p:nvPr>
            <p:ph type="ctrTitle"/>
          </p:nvPr>
        </p:nvSpPr>
        <p:spPr>
          <a:xfrm>
            <a:off x="1343075" y="-226500"/>
            <a:ext cx="8298000" cy="1261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b="1" lang="es" sz="4800">
                <a:solidFill>
                  <a:schemeClr val="lt1"/>
                </a:solidFill>
              </a:rPr>
              <a:t>Phase 1: Wordpress</a:t>
            </a:r>
            <a:endParaRPr b="1" sz="4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8"/>
          <p:cNvSpPr txBox="1"/>
          <p:nvPr>
            <p:ph type="ctrTitle"/>
          </p:nvPr>
        </p:nvSpPr>
        <p:spPr>
          <a:xfrm>
            <a:off x="1343075" y="-226500"/>
            <a:ext cx="6538800" cy="1179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520">
                <a:solidFill>
                  <a:schemeClr val="lt1"/>
                </a:solidFill>
              </a:rPr>
              <a:t>Phase 1: Suspicious Findings</a:t>
            </a:r>
            <a:endParaRPr b="1" sz="3520">
              <a:solidFill>
                <a:schemeClr val="lt1"/>
              </a:solidFill>
            </a:endParaRPr>
          </a:p>
        </p:txBody>
      </p:sp>
      <p:sp>
        <p:nvSpPr>
          <p:cNvPr id="100" name="Google Shape;100;p18"/>
          <p:cNvSpPr txBox="1"/>
          <p:nvPr>
            <p:ph idx="1" type="subTitle"/>
          </p:nvPr>
        </p:nvSpPr>
        <p:spPr>
          <a:xfrm>
            <a:off x="429975" y="1164600"/>
            <a:ext cx="4646400" cy="319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es" sz="2300">
                <a:solidFill>
                  <a:schemeClr val="dk1"/>
                </a:solidFill>
              </a:rPr>
              <a:t>Suspicious Login Attempts</a:t>
            </a:r>
            <a:endParaRPr b="1" sz="2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es" sz="2300">
                <a:solidFill>
                  <a:schemeClr val="dk1"/>
                </a:solidFill>
              </a:rPr>
              <a:t>Suspicious Code:</a:t>
            </a:r>
            <a:br>
              <a:rPr b="1" lang="es" sz="2300">
                <a:solidFill>
                  <a:schemeClr val="dk1"/>
                </a:solidFill>
              </a:rPr>
            </a:br>
            <a:r>
              <a:rPr b="1" lang="es" sz="2300">
                <a:solidFill>
                  <a:schemeClr val="dk1"/>
                </a:solidFill>
              </a:rPr>
              <a:t>UNICODE inside important files.</a:t>
            </a:r>
            <a:endParaRPr b="1" sz="23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es" sz="2300">
                <a:solidFill>
                  <a:schemeClr val="dk1"/>
                </a:solidFill>
              </a:rPr>
              <a:t>Privileges Modification</a:t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101" name="Google Shape;101;p18"/>
          <p:cNvSpPr txBox="1"/>
          <p:nvPr/>
        </p:nvSpPr>
        <p:spPr>
          <a:xfrm>
            <a:off x="4892700" y="952500"/>
            <a:ext cx="4403700" cy="34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600">
                <a:solidFill>
                  <a:schemeClr val="lt1"/>
                </a:solidFill>
              </a:rPr>
              <a:t>UNKNOWN</a:t>
            </a:r>
            <a:endParaRPr b="1" sz="16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600">
                <a:solidFill>
                  <a:schemeClr val="lt1"/>
                </a:solidFill>
              </a:rPr>
              <a:t>SSH_ORIGINAL_COMMAND=</a:t>
            </a:r>
            <a:endParaRPr b="1" sz="16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600">
                <a:solidFill>
                  <a:schemeClr val="lt1"/>
                </a:solidFill>
              </a:rPr>
              <a:t>SSH_ORIGINAL_COMMAND</a:t>
            </a:r>
            <a:endParaRPr b="1" sz="16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600">
                <a:solidFill>
                  <a:schemeClr val="lt1"/>
                </a:solidFill>
              </a:rPr>
              <a:t>nologin</a:t>
            </a:r>
            <a:endParaRPr b="1" sz="16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700">
                <a:solidFill>
                  <a:schemeClr val="lt1"/>
                </a:solidFill>
              </a:rPr>
              <a:t>bash        if on_ac_power; then</a:t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700">
                <a:solidFill>
                  <a:schemeClr val="lt1"/>
                </a:solidFill>
              </a:rPr>
              <a:t>†††††</a:t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700">
                <a:solidFill>
                  <a:schemeClr val="lt1"/>
                </a:solidFill>
              </a:rPr>
              <a:t>†††</a:t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chemeClr val="lt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2" name="Google Shape;102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98250" y="3389975"/>
            <a:ext cx="4295775" cy="34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59450" y="1196100"/>
            <a:ext cx="4229100" cy="2867025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9"/>
          <p:cNvSpPr txBox="1"/>
          <p:nvPr>
            <p:ph type="ctrTitle"/>
          </p:nvPr>
        </p:nvSpPr>
        <p:spPr>
          <a:xfrm>
            <a:off x="1666300" y="-226500"/>
            <a:ext cx="6215400" cy="1179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820">
                <a:solidFill>
                  <a:schemeClr val="lt1"/>
                </a:solidFill>
              </a:rPr>
              <a:t>Phase 1: Conclusions</a:t>
            </a:r>
            <a:endParaRPr b="1" sz="382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0"/>
          <p:cNvSpPr txBox="1"/>
          <p:nvPr/>
        </p:nvSpPr>
        <p:spPr>
          <a:xfrm>
            <a:off x="1258175" y="1163725"/>
            <a:ext cx="7605300" cy="30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900">
                <a:solidFill>
                  <a:schemeClr val="dk1"/>
                </a:solidFill>
              </a:rPr>
              <a:t>Phase 2:</a:t>
            </a:r>
            <a:endParaRPr b="1" sz="5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700">
                <a:solidFill>
                  <a:schemeClr val="dk1"/>
                </a:solidFill>
              </a:rPr>
              <a:t>Vulnerabilities </a:t>
            </a:r>
            <a:endParaRPr b="1" sz="3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700">
                <a:solidFill>
                  <a:schemeClr val="dk1"/>
                </a:solidFill>
              </a:rPr>
              <a:t>         &amp;</a:t>
            </a:r>
            <a:endParaRPr b="1" sz="3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3700">
                <a:solidFill>
                  <a:schemeClr val="dk1"/>
                </a:solidFill>
              </a:rPr>
              <a:t>Exploitation</a:t>
            </a:r>
            <a:endParaRPr b="1" sz="7600">
              <a:solidFill>
                <a:schemeClr val="dk1"/>
              </a:solidFill>
            </a:endParaRPr>
          </a:p>
        </p:txBody>
      </p:sp>
      <p:pic>
        <p:nvPicPr>
          <p:cNvPr id="118" name="Google Shape;118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207725" y="1163725"/>
            <a:ext cx="2856925" cy="2816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1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620">
                <a:solidFill>
                  <a:schemeClr val="lt1"/>
                </a:solidFill>
              </a:rPr>
              <a:t>Phase 2: Exploitation Tools</a:t>
            </a:r>
            <a:endParaRPr b="1" sz="3220">
              <a:solidFill>
                <a:schemeClr val="lt1"/>
              </a:solidFill>
            </a:endParaRPr>
          </a:p>
        </p:txBody>
      </p:sp>
      <p:sp>
        <p:nvSpPr>
          <p:cNvPr id="126" name="Google Shape;126;p21"/>
          <p:cNvSpPr txBox="1"/>
          <p:nvPr>
            <p:ph idx="1" type="subTitle"/>
          </p:nvPr>
        </p:nvSpPr>
        <p:spPr>
          <a:xfrm>
            <a:off x="679375" y="1289900"/>
            <a:ext cx="3550200" cy="30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 sz="3100">
                <a:solidFill>
                  <a:schemeClr val="dk1"/>
                </a:solidFill>
              </a:rPr>
              <a:t>Nmap</a:t>
            </a:r>
            <a:endParaRPr b="1" sz="3100">
              <a:solidFill>
                <a:schemeClr val="dk1"/>
              </a:solidFill>
            </a:endParaRPr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>
                <a:solidFill>
                  <a:schemeClr val="dk1"/>
                </a:solidFill>
              </a:rPr>
              <a:t>Gobuster </a:t>
            </a:r>
            <a:endParaRPr b="1">
              <a:solidFill>
                <a:schemeClr val="dk1"/>
              </a:solidFill>
            </a:endParaRPr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>
                <a:solidFill>
                  <a:schemeClr val="dk1"/>
                </a:solidFill>
              </a:rPr>
              <a:t>WpScan </a:t>
            </a:r>
            <a:endParaRPr b="1">
              <a:solidFill>
                <a:schemeClr val="dk1"/>
              </a:solidFill>
            </a:endParaRPr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>
                <a:solidFill>
                  <a:schemeClr val="dk1"/>
                </a:solidFill>
              </a:rPr>
              <a:t>SSH (Default)</a:t>
            </a:r>
            <a:endParaRPr b="1">
              <a:solidFill>
                <a:schemeClr val="dk1"/>
              </a:solidFill>
            </a:endParaRPr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>
                <a:solidFill>
                  <a:schemeClr val="dk1"/>
                </a:solidFill>
              </a:rPr>
              <a:t>FTP (Default)</a:t>
            </a:r>
            <a:endParaRPr b="1" sz="3100">
              <a:solidFill>
                <a:schemeClr val="dk1"/>
              </a:solidFill>
            </a:endParaRPr>
          </a:p>
        </p:txBody>
      </p:sp>
      <p:pic>
        <p:nvPicPr>
          <p:cNvPr id="127" name="Google Shape;127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605950" y="1551300"/>
            <a:ext cx="5405625" cy="2040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2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420">
                <a:solidFill>
                  <a:schemeClr val="lt1"/>
                </a:solidFill>
              </a:rPr>
              <a:t>Phase 2: Server Machine</a:t>
            </a:r>
            <a:endParaRPr b="1" sz="3020">
              <a:solidFill>
                <a:schemeClr val="lt1"/>
              </a:solidFill>
            </a:endParaRPr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385120" y="2296325"/>
            <a:ext cx="4225905" cy="1607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41275" y="1925088"/>
            <a:ext cx="3440800" cy="21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2"/>
          <p:cNvSpPr txBox="1"/>
          <p:nvPr>
            <p:ph idx="1" type="subTitle"/>
          </p:nvPr>
        </p:nvSpPr>
        <p:spPr>
          <a:xfrm>
            <a:off x="712825" y="1198075"/>
            <a:ext cx="3550200" cy="21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100">
                <a:solidFill>
                  <a:schemeClr val="dk1"/>
                </a:solidFill>
              </a:rPr>
              <a:t>Wordpress</a:t>
            </a:r>
            <a:endParaRPr b="1" sz="3100">
              <a:solidFill>
                <a:schemeClr val="dk1"/>
              </a:solidFill>
            </a:endParaRPr>
          </a:p>
        </p:txBody>
      </p:sp>
      <p:sp>
        <p:nvSpPr>
          <p:cNvPr id="138" name="Google Shape;138;p22"/>
          <p:cNvSpPr txBox="1"/>
          <p:nvPr>
            <p:ph idx="1" type="subTitle"/>
          </p:nvPr>
        </p:nvSpPr>
        <p:spPr>
          <a:xfrm>
            <a:off x="4913975" y="1198075"/>
            <a:ext cx="3697200" cy="30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100">
                <a:solidFill>
                  <a:schemeClr val="dk1"/>
                </a:solidFill>
              </a:rPr>
              <a:t>MySQL</a:t>
            </a:r>
            <a:br>
              <a:rPr b="1" lang="es" sz="3100">
                <a:solidFill>
                  <a:schemeClr val="dk1"/>
                </a:solidFill>
              </a:rPr>
            </a:br>
            <a:r>
              <a:rPr b="1" lang="es" sz="3100">
                <a:solidFill>
                  <a:schemeClr val="dk1"/>
                </a:solidFill>
              </a:rPr>
              <a:t>MariaDB</a:t>
            </a:r>
            <a:endParaRPr b="1" sz="3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3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420">
                <a:solidFill>
                  <a:schemeClr val="lt1"/>
                </a:solidFill>
              </a:rPr>
              <a:t>Phase 2: New Vulnerability</a:t>
            </a:r>
            <a:endParaRPr b="1" sz="3020">
              <a:solidFill>
                <a:schemeClr val="lt1"/>
              </a:solidFill>
            </a:endParaRPr>
          </a:p>
        </p:txBody>
      </p:sp>
      <p:sp>
        <p:nvSpPr>
          <p:cNvPr id="146" name="Google Shape;146;p23"/>
          <p:cNvSpPr txBox="1"/>
          <p:nvPr>
            <p:ph idx="1" type="subTitle"/>
          </p:nvPr>
        </p:nvSpPr>
        <p:spPr>
          <a:xfrm>
            <a:off x="712838" y="1152175"/>
            <a:ext cx="3776700" cy="21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100">
                <a:solidFill>
                  <a:schemeClr val="dk1"/>
                </a:solidFill>
              </a:rPr>
              <a:t>Creating the Script</a:t>
            </a:r>
            <a:endParaRPr b="1" sz="31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2200" u="sng">
                <a:solidFill>
                  <a:schemeClr val="lt1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https://www.revshells.com/</a:t>
            </a:r>
            <a:endParaRPr b="1" sz="4200">
              <a:solidFill>
                <a:schemeClr val="lt1"/>
              </a:solidFill>
            </a:endParaRPr>
          </a:p>
        </p:txBody>
      </p:sp>
      <p:sp>
        <p:nvSpPr>
          <p:cNvPr id="147" name="Google Shape;147;p23"/>
          <p:cNvSpPr txBox="1"/>
          <p:nvPr>
            <p:ph type="ctrTitle"/>
          </p:nvPr>
        </p:nvSpPr>
        <p:spPr>
          <a:xfrm>
            <a:off x="1726900" y="3753800"/>
            <a:ext cx="71367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420">
                <a:solidFill>
                  <a:schemeClr val="lt1"/>
                </a:solidFill>
              </a:rPr>
              <a:t>Backdoor Service / Reverse Shell</a:t>
            </a:r>
            <a:endParaRPr b="1" sz="3020">
              <a:solidFill>
                <a:schemeClr val="lt1"/>
              </a:solidFill>
            </a:endParaRPr>
          </a:p>
        </p:txBody>
      </p:sp>
      <p:pic>
        <p:nvPicPr>
          <p:cNvPr id="148" name="Google Shape;148;p2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6638" y="2201819"/>
            <a:ext cx="4229125" cy="174223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3"/>
          <p:cNvSpPr txBox="1"/>
          <p:nvPr>
            <p:ph idx="1" type="subTitle"/>
          </p:nvPr>
        </p:nvSpPr>
        <p:spPr>
          <a:xfrm>
            <a:off x="4824450" y="1152175"/>
            <a:ext cx="4117500" cy="21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100">
                <a:solidFill>
                  <a:schemeClr val="dk1"/>
                </a:solidFill>
              </a:rPr>
              <a:t>  Creating a Service</a:t>
            </a:r>
            <a:endParaRPr b="1" sz="4200">
              <a:solidFill>
                <a:schemeClr val="lt1"/>
              </a:solidFill>
            </a:endParaRPr>
          </a:p>
        </p:txBody>
      </p:sp>
      <p:pic>
        <p:nvPicPr>
          <p:cNvPr id="150" name="Google Shape;150;p2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118350" y="1703900"/>
            <a:ext cx="3399050" cy="224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4"/>
          <p:cNvSpPr txBox="1"/>
          <p:nvPr/>
        </p:nvSpPr>
        <p:spPr>
          <a:xfrm>
            <a:off x="1258175" y="1115075"/>
            <a:ext cx="7605300" cy="30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900">
                <a:solidFill>
                  <a:schemeClr val="dk1"/>
                </a:solidFill>
              </a:rPr>
              <a:t>Phase 3:</a:t>
            </a:r>
            <a:endParaRPr b="1" sz="5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900">
                <a:solidFill>
                  <a:schemeClr val="dk1"/>
                </a:solidFill>
              </a:rPr>
              <a:t>Patching</a:t>
            </a:r>
            <a:endParaRPr b="1" sz="5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200">
                <a:solidFill>
                  <a:schemeClr val="dk1"/>
                </a:solidFill>
              </a:rPr>
              <a:t>&amp; Hardening</a:t>
            </a:r>
            <a:endParaRPr b="1" sz="4200">
              <a:solidFill>
                <a:schemeClr val="dk1"/>
              </a:solidFill>
            </a:endParaRPr>
          </a:p>
        </p:txBody>
      </p:sp>
      <p:pic>
        <p:nvPicPr>
          <p:cNvPr id="158" name="Google Shape;158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97224" y="1157149"/>
            <a:ext cx="3043400" cy="282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5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220">
                <a:solidFill>
                  <a:schemeClr val="lt1"/>
                </a:solidFill>
              </a:rPr>
              <a:t>Phase 3: Fixing Vulnerabilities</a:t>
            </a:r>
            <a:endParaRPr b="1" sz="2820">
              <a:solidFill>
                <a:schemeClr val="lt1"/>
              </a:solidFill>
            </a:endParaRPr>
          </a:p>
        </p:txBody>
      </p:sp>
      <p:sp>
        <p:nvSpPr>
          <p:cNvPr id="166" name="Google Shape;166;p25"/>
          <p:cNvSpPr txBox="1"/>
          <p:nvPr>
            <p:ph idx="1" type="subTitle"/>
          </p:nvPr>
        </p:nvSpPr>
        <p:spPr>
          <a:xfrm>
            <a:off x="729900" y="1252600"/>
            <a:ext cx="3842100" cy="30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" sz="2400">
                <a:solidFill>
                  <a:schemeClr val="dk1"/>
                </a:solidFill>
              </a:rPr>
              <a:t>Delete the backdoor</a:t>
            </a:r>
            <a:endParaRPr b="1" sz="2400">
              <a:solidFill>
                <a:schemeClr val="dk1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" sz="2400">
                <a:solidFill>
                  <a:schemeClr val="dk1"/>
                </a:solidFill>
              </a:rPr>
              <a:t>Updating the machine</a:t>
            </a:r>
            <a:endParaRPr b="1" sz="2400">
              <a:solidFill>
                <a:schemeClr val="dk1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" sz="2400">
                <a:solidFill>
                  <a:schemeClr val="dk1"/>
                </a:solidFill>
              </a:rPr>
              <a:t>Creating a new update service</a:t>
            </a:r>
            <a:endParaRPr b="1" sz="2400">
              <a:solidFill>
                <a:schemeClr val="dk1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" sz="2400">
                <a:solidFill>
                  <a:schemeClr val="dk1"/>
                </a:solidFill>
              </a:rPr>
              <a:t>Deleting or </a:t>
            </a:r>
            <a:r>
              <a:rPr b="1" lang="es" sz="2400">
                <a:solidFill>
                  <a:schemeClr val="dk1"/>
                </a:solidFill>
              </a:rPr>
              <a:t>changing vulnerable Users</a:t>
            </a:r>
            <a:endParaRPr b="1" sz="2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100">
              <a:solidFill>
                <a:schemeClr val="dk1"/>
              </a:solidFill>
            </a:endParaRPr>
          </a:p>
        </p:txBody>
      </p:sp>
      <p:pic>
        <p:nvPicPr>
          <p:cNvPr id="167" name="Google Shape;167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72000" y="1340774"/>
            <a:ext cx="4184725" cy="7020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461363" y="2176475"/>
            <a:ext cx="2406000" cy="1830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6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220">
                <a:solidFill>
                  <a:schemeClr val="lt1"/>
                </a:solidFill>
              </a:rPr>
              <a:t>Phase 3: Hardening Tools</a:t>
            </a:r>
            <a:endParaRPr b="1" sz="2820">
              <a:solidFill>
                <a:schemeClr val="lt1"/>
              </a:solidFill>
            </a:endParaRPr>
          </a:p>
        </p:txBody>
      </p:sp>
      <p:sp>
        <p:nvSpPr>
          <p:cNvPr id="176" name="Google Shape;176;p26"/>
          <p:cNvSpPr txBox="1"/>
          <p:nvPr>
            <p:ph idx="1" type="subTitle"/>
          </p:nvPr>
        </p:nvSpPr>
        <p:spPr>
          <a:xfrm>
            <a:off x="805600" y="1034550"/>
            <a:ext cx="3766500" cy="30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">
                <a:solidFill>
                  <a:schemeClr val="dk1"/>
                </a:solidFill>
              </a:rPr>
              <a:t>Installing UFW </a:t>
            </a:r>
            <a:r>
              <a:rPr lang="es" sz="1500">
                <a:solidFill>
                  <a:schemeClr val="dk1"/>
                </a:solidFill>
              </a:rPr>
              <a:t> </a:t>
            </a:r>
            <a:r>
              <a:rPr b="1" lang="es" sz="1600">
                <a:solidFill>
                  <a:schemeClr val="dk1"/>
                </a:solidFill>
              </a:rPr>
              <a:t>Uncomplicated Firewall</a:t>
            </a:r>
            <a:endParaRPr b="1" sz="1600">
              <a:solidFill>
                <a:schemeClr val="dk1"/>
              </a:solidFill>
            </a:endParaRPr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 sz="3100">
                <a:solidFill>
                  <a:schemeClr val="dk1"/>
                </a:solidFill>
              </a:rPr>
              <a:t>Wazuh (SIEM)</a:t>
            </a:r>
            <a:endParaRPr b="1" sz="3100">
              <a:solidFill>
                <a:schemeClr val="dk1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" sz="3100">
                <a:solidFill>
                  <a:schemeClr val="dk1"/>
                </a:solidFill>
              </a:rPr>
              <a:t>ClamAV </a:t>
            </a:r>
            <a:br>
              <a:rPr b="1" lang="es" sz="2400">
                <a:solidFill>
                  <a:schemeClr val="dk1"/>
                </a:solidFill>
              </a:rPr>
            </a:br>
            <a:r>
              <a:rPr b="1" lang="es" sz="1600">
                <a:solidFill>
                  <a:schemeClr val="dk1"/>
                </a:solidFill>
              </a:rPr>
              <a:t>Antivirus Open Source</a:t>
            </a:r>
            <a:endParaRPr b="1" sz="1600">
              <a:solidFill>
                <a:schemeClr val="dk1"/>
              </a:solidFill>
            </a:endParaRPr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 sz="3100">
                <a:solidFill>
                  <a:schemeClr val="dk1"/>
                </a:solidFill>
              </a:rPr>
              <a:t>RKHunter</a:t>
            </a:r>
            <a:br>
              <a:rPr b="1" lang="es" sz="3100">
                <a:solidFill>
                  <a:schemeClr val="dk1"/>
                </a:solidFill>
              </a:rPr>
            </a:br>
            <a:r>
              <a:rPr b="1" lang="es" sz="1600">
                <a:solidFill>
                  <a:schemeClr val="dk1"/>
                </a:solidFill>
              </a:rPr>
              <a:t>Root Kit Hunter</a:t>
            </a:r>
            <a:endParaRPr b="1" sz="1600">
              <a:solidFill>
                <a:schemeClr val="dk1"/>
              </a:solidFill>
            </a:endParaRPr>
          </a:p>
        </p:txBody>
      </p:sp>
      <p:pic>
        <p:nvPicPr>
          <p:cNvPr id="177" name="Google Shape;177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78675" y="2969525"/>
            <a:ext cx="3904289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6"/>
          <p:cNvSpPr txBox="1"/>
          <p:nvPr>
            <p:ph idx="1" type="subTitle"/>
          </p:nvPr>
        </p:nvSpPr>
        <p:spPr>
          <a:xfrm>
            <a:off x="4847575" y="1035000"/>
            <a:ext cx="3766500" cy="3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chemeClr val="dk1"/>
                </a:solidFill>
              </a:rPr>
              <a:t>New Rules (UFW)</a:t>
            </a:r>
            <a:endParaRPr b="1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s" sz="1600">
                <a:solidFill>
                  <a:schemeClr val="dk1"/>
                </a:solidFill>
              </a:rPr>
              <a:t>Blocking generic accesses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s" sz="1600">
                <a:solidFill>
                  <a:schemeClr val="dk1"/>
                </a:solidFill>
              </a:rPr>
              <a:t>Blocking Root access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s" sz="1600">
                <a:solidFill>
                  <a:schemeClr val="dk1"/>
                </a:solidFill>
              </a:rPr>
              <a:t>Opening Secure ports</a:t>
            </a:r>
            <a:endParaRPr b="1"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7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220">
                <a:solidFill>
                  <a:schemeClr val="lt1"/>
                </a:solidFill>
              </a:rPr>
              <a:t>Phase 3: Gobernance Impact</a:t>
            </a:r>
            <a:endParaRPr b="1" sz="2820">
              <a:solidFill>
                <a:schemeClr val="lt1"/>
              </a:solidFill>
            </a:endParaRPr>
          </a:p>
        </p:txBody>
      </p:sp>
      <p:graphicFrame>
        <p:nvGraphicFramePr>
          <p:cNvPr id="186" name="Google Shape;186;p27"/>
          <p:cNvGraphicFramePr/>
          <p:nvPr/>
        </p:nvGraphicFramePr>
        <p:xfrm>
          <a:off x="952500" y="1391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{51EA1EE5-408A-4F64-9220-C6497675415C}</a:tableStyleId>
              </a:tblPr>
              <a:tblGrid>
                <a:gridCol w="2413000"/>
                <a:gridCol w="2413000"/>
                <a:gridCol w="2413000"/>
              </a:tblGrid>
              <a:tr h="6595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900"/>
                        <a:t>ISO Standards</a:t>
                      </a:r>
                      <a:endParaRPr b="1" sz="1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27001/27002/27003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Market Exclusion</a:t>
                      </a:r>
                      <a:endParaRPr b="1" sz="15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613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900"/>
                        <a:t>NIST</a:t>
                      </a:r>
                      <a:endParaRPr b="1" sz="1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CSF 2.0, SP 800-61, 800-53, 800-30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Market Exclusion</a:t>
                      </a:r>
                      <a:endParaRPr b="1" sz="15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613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900"/>
                        <a:t>EU Regulations</a:t>
                      </a:r>
                      <a:endParaRPr b="1" sz="1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GDPR, NIS2 DORA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€20~35 millions OR 4~7% Global Net income</a:t>
                      </a:r>
                      <a:endParaRPr b="1" sz="15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491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900"/>
                        <a:t>US Regulations</a:t>
                      </a:r>
                      <a:endParaRPr b="1" sz="1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HIPAA, CCPA, GLBA 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$50k~100k per violation</a:t>
                      </a:r>
                      <a:endParaRPr b="1" sz="15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87" name="Google Shape;187;p27"/>
          <p:cNvSpPr txBox="1"/>
          <p:nvPr>
            <p:ph type="ctrTitle"/>
          </p:nvPr>
        </p:nvSpPr>
        <p:spPr>
          <a:xfrm>
            <a:off x="2884800" y="3990275"/>
            <a:ext cx="3374400" cy="981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4020">
                <a:solidFill>
                  <a:schemeClr val="lt1"/>
                </a:solidFill>
              </a:rPr>
              <a:t>Conclusions</a:t>
            </a:r>
            <a:endParaRPr b="1" sz="362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