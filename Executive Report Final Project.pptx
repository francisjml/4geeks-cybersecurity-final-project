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9FD4CA-B058-4C1F-A268-80BAEFB1D5E2}">
  <a:tblStyle styleId="{129FD4CA-B058-4C1F-A268-80BAEFB1D5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861b1548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861b1548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8918d9c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8918d9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8918d9c7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8918d9c7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918d9c7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8918d9c7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8918d9c7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8918d9c7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918d9c7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918d9c7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918d9c7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918d9c7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918d9c7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8918d9c7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8918d9c7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8918d9c7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8918d9c7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8918d9c7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918d9c7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8918d9c7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8918d9c7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8918d9c7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8918d9c7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8918d9c7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8918d9c7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8918d9c7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8918d9c7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8918d9c7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8918d9c72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8918d9c72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www.revshells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05600" y="519150"/>
            <a:ext cx="8058000" cy="308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5600">
                <a:latin typeface="Liberation Sans"/>
                <a:ea typeface="Liberation Sans"/>
                <a:cs typeface="Liberation Sans"/>
                <a:sym typeface="Liberation Sans"/>
              </a:rPr>
              <a:t>Executive</a:t>
            </a:r>
            <a:r>
              <a:rPr b="1" lang="es" sz="5600">
                <a:latin typeface="Liberation Sans"/>
                <a:ea typeface="Liberation Sans"/>
                <a:cs typeface="Liberation Sans"/>
                <a:sym typeface="Liberation Sans"/>
              </a:rPr>
              <a:t> Report: </a:t>
            </a:r>
            <a:endParaRPr b="1" sz="5600">
              <a:latin typeface="Liberation Sans"/>
              <a:ea typeface="Liberation Sans"/>
              <a:cs typeface="Liberation Sans"/>
              <a:sym typeface="Liberatio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s" sz="6700">
                <a:latin typeface="Liberation Sans"/>
                <a:ea typeface="Liberation Sans"/>
                <a:cs typeface="Liberation Sans"/>
                <a:sym typeface="Liberation Sans"/>
              </a:rPr>
              <a:t>Final Project</a:t>
            </a:r>
            <a:endParaRPr sz="7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1375" y="242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lt1"/>
                </a:solidFill>
              </a:rPr>
              <a:t>Francisco José Morante Lozada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32925" y="4179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lt1"/>
                </a:solidFill>
              </a:rPr>
              <a:t>4 Geeks Academy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lt1"/>
                </a:solidFill>
              </a:rPr>
              <a:t>Cybersecurity Bootcamp</a:t>
            </a:r>
            <a:endParaRPr b="1" sz="2100"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623400" y="108775"/>
            <a:ext cx="8520600" cy="8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s" sz="4300">
                <a:solidFill>
                  <a:schemeClr val="lt1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Index</a:t>
            </a:r>
            <a:endParaRPr sz="5100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453100" y="979675"/>
            <a:ext cx="4646400" cy="24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chemeClr val="dk1"/>
                </a:solidFill>
              </a:rPr>
              <a:t>Phase 1, Forensic Autopsy: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Recognition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Suspicious Findings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Conclusions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740300" y="979675"/>
            <a:ext cx="4403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Phase 2, Vulnerabilities and Exploitation: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" sz="2000">
                <a:solidFill>
                  <a:schemeClr val="dk1"/>
                </a:solidFill>
              </a:rPr>
              <a:t>Nmap, Gobuster, WpScan, SSH, FTP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" sz="2000">
                <a:solidFill>
                  <a:schemeClr val="dk1"/>
                </a:solidFill>
              </a:rPr>
              <a:t>Server Machine: Wordpress, MySQL, Journalctl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" sz="2000">
                <a:solidFill>
                  <a:schemeClr val="dk1"/>
                </a:solidFill>
              </a:rPr>
              <a:t>Exploiting another Vulnerability, Backdoor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53100" y="2651500"/>
            <a:ext cx="4403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Phase 3, Patching &amp; Hardening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" sz="1900">
                <a:solidFill>
                  <a:schemeClr val="dk1"/>
                </a:solidFill>
              </a:rPr>
              <a:t>Fixing vulnerabilities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" sz="1900">
                <a:solidFill>
                  <a:schemeClr val="dk1"/>
                </a:solidFill>
              </a:rPr>
              <a:t>Hardening tools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s" sz="1900">
                <a:solidFill>
                  <a:schemeClr val="dk1"/>
                </a:solidFill>
              </a:rPr>
              <a:t>Incident Response Plan and Conclusions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432925" y="3951150"/>
            <a:ext cx="8520600" cy="8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1"/>
                </a:solidFill>
              </a:rPr>
              <a:t>4 Geeks Academy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1"/>
                </a:solidFill>
              </a:rPr>
              <a:t>Cybersecurity Bootamp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1258175" y="1039650"/>
            <a:ext cx="7605300" cy="30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Phase 1:</a:t>
            </a:r>
            <a:endParaRPr b="1" sz="5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Forensic </a:t>
            </a:r>
            <a:endParaRPr b="1" sz="5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Autopsy</a:t>
            </a:r>
            <a:endParaRPr b="1" sz="5900">
              <a:solidFill>
                <a:schemeClr val="dk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8850" y="721250"/>
            <a:ext cx="3571375" cy="36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ctrTitle"/>
          </p:nvPr>
        </p:nvSpPr>
        <p:spPr>
          <a:xfrm>
            <a:off x="1343075" y="-226500"/>
            <a:ext cx="8298000" cy="12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s" sz="4800">
                <a:solidFill>
                  <a:schemeClr val="lt1"/>
                </a:solidFill>
              </a:rPr>
              <a:t>Phase 1: Recognition</a:t>
            </a:r>
            <a:endParaRPr b="1" sz="4800">
              <a:solidFill>
                <a:schemeClr val="lt1"/>
              </a:solidFill>
            </a:endParaRPr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472350" y="1195225"/>
            <a:ext cx="8520600" cy="3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6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13">
                <a:solidFill>
                  <a:schemeClr val="dk1"/>
                </a:solidFill>
              </a:rPr>
              <a:t>What is Autopsy Digital Forensic?</a:t>
            </a:r>
            <a:endParaRPr b="1" sz="611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391">
                <a:solidFill>
                  <a:schemeClr val="dk1"/>
                </a:solidFill>
              </a:rPr>
              <a:t>Why is it important for the Recognition?</a:t>
            </a:r>
            <a:endParaRPr b="1" sz="539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4613" y="1035000"/>
            <a:ext cx="6074775" cy="36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type="ctrTitle"/>
          </p:nvPr>
        </p:nvSpPr>
        <p:spPr>
          <a:xfrm>
            <a:off x="1343075" y="-226500"/>
            <a:ext cx="8298000" cy="12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s" sz="4800">
                <a:solidFill>
                  <a:schemeClr val="lt1"/>
                </a:solidFill>
              </a:rPr>
              <a:t>Phase 1: Wordpress</a:t>
            </a:r>
            <a:endParaRPr b="1"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type="ctrTitle"/>
          </p:nvPr>
        </p:nvSpPr>
        <p:spPr>
          <a:xfrm>
            <a:off x="1343075" y="-226500"/>
            <a:ext cx="6538800" cy="11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520">
                <a:solidFill>
                  <a:schemeClr val="lt1"/>
                </a:solidFill>
              </a:rPr>
              <a:t>Phase 1: Suspicious Findings</a:t>
            </a:r>
            <a:endParaRPr b="1" sz="3520">
              <a:solidFill>
                <a:schemeClr val="lt1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429975" y="1164600"/>
            <a:ext cx="46464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Suspicious Login Attempts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Suspicious Code:</a:t>
            </a:r>
            <a:br>
              <a:rPr b="1" lang="es" sz="2300">
                <a:solidFill>
                  <a:schemeClr val="dk1"/>
                </a:solidFill>
              </a:rPr>
            </a:br>
            <a:r>
              <a:rPr b="1" lang="es" sz="2300">
                <a:solidFill>
                  <a:schemeClr val="dk1"/>
                </a:solidFill>
              </a:rPr>
              <a:t>UNICODE inside important files.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s" sz="2300">
                <a:solidFill>
                  <a:schemeClr val="dk1"/>
                </a:solidFill>
              </a:rPr>
              <a:t>Privileges Modification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892700" y="952500"/>
            <a:ext cx="44037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UNKNOWN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SSH_ORIGINAL_COMMAND=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SSH_ORIGINAL_COMMAND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nologin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bash        if on_ac_power; then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†††††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†††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8250" y="3389975"/>
            <a:ext cx="4295775" cy="3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9450" y="1196100"/>
            <a:ext cx="42291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ctrTitle"/>
          </p:nvPr>
        </p:nvSpPr>
        <p:spPr>
          <a:xfrm>
            <a:off x="1666300" y="-226500"/>
            <a:ext cx="6215400" cy="117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820">
                <a:solidFill>
                  <a:schemeClr val="lt1"/>
                </a:solidFill>
              </a:rPr>
              <a:t>Phase 1: Conclusions</a:t>
            </a:r>
            <a:endParaRPr b="1" sz="38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258175" y="1163725"/>
            <a:ext cx="7605300" cy="30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Phase 2:</a:t>
            </a:r>
            <a:endParaRPr b="1" sz="5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dk1"/>
                </a:solidFill>
              </a:rPr>
              <a:t>Vulnerabilities 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dk1"/>
                </a:solidFill>
              </a:rPr>
              <a:t>         &amp;</a:t>
            </a:r>
            <a:endParaRPr b="1"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3700">
                <a:solidFill>
                  <a:schemeClr val="dk1"/>
                </a:solidFill>
              </a:rPr>
              <a:t>Exploitation</a:t>
            </a:r>
            <a:endParaRPr b="1" sz="7600">
              <a:solidFill>
                <a:schemeClr val="dk1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725" y="1163725"/>
            <a:ext cx="2856925" cy="28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620">
                <a:solidFill>
                  <a:schemeClr val="lt1"/>
                </a:solidFill>
              </a:rPr>
              <a:t>Phase 2: Exploitation Tools</a:t>
            </a:r>
            <a:endParaRPr b="1" sz="3220">
              <a:solidFill>
                <a:schemeClr val="lt1"/>
              </a:solidFill>
            </a:endParaRPr>
          </a:p>
        </p:txBody>
      </p:sp>
      <p:sp>
        <p:nvSpPr>
          <p:cNvPr id="127" name="Google Shape;127;p21"/>
          <p:cNvSpPr txBox="1"/>
          <p:nvPr>
            <p:ph idx="1" type="subTitle"/>
          </p:nvPr>
        </p:nvSpPr>
        <p:spPr>
          <a:xfrm>
            <a:off x="679375" y="1289900"/>
            <a:ext cx="35502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 sz="3100">
                <a:solidFill>
                  <a:schemeClr val="dk1"/>
                </a:solidFill>
              </a:rPr>
              <a:t>Nmap</a:t>
            </a:r>
            <a:endParaRPr b="1" sz="31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>
                <a:solidFill>
                  <a:schemeClr val="dk1"/>
                </a:solidFill>
              </a:rPr>
              <a:t>Gobuster </a:t>
            </a:r>
            <a:endParaRPr b="1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>
                <a:solidFill>
                  <a:schemeClr val="dk1"/>
                </a:solidFill>
              </a:rPr>
              <a:t>WpScan </a:t>
            </a:r>
            <a:endParaRPr b="1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>
                <a:solidFill>
                  <a:schemeClr val="dk1"/>
                </a:solidFill>
              </a:rPr>
              <a:t>SSH (Default)</a:t>
            </a:r>
            <a:endParaRPr b="1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>
                <a:solidFill>
                  <a:schemeClr val="dk1"/>
                </a:solidFill>
              </a:rPr>
              <a:t>FTP (Default)</a:t>
            </a:r>
            <a:endParaRPr b="1" sz="3100">
              <a:solidFill>
                <a:schemeClr val="dk1"/>
              </a:solidFill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950" y="1551300"/>
            <a:ext cx="5405625" cy="20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420">
                <a:solidFill>
                  <a:schemeClr val="lt1"/>
                </a:solidFill>
              </a:rPr>
              <a:t>Phase 2: Server Machine</a:t>
            </a:r>
            <a:endParaRPr b="1" sz="3020">
              <a:solidFill>
                <a:schemeClr val="lt1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5120" y="2296325"/>
            <a:ext cx="4225905" cy="16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275" y="1925088"/>
            <a:ext cx="3440800" cy="21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>
            <p:ph idx="1" type="subTitle"/>
          </p:nvPr>
        </p:nvSpPr>
        <p:spPr>
          <a:xfrm>
            <a:off x="712825" y="1198075"/>
            <a:ext cx="3550200" cy="21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chemeClr val="dk1"/>
                </a:solidFill>
              </a:rPr>
              <a:t>Wordpress</a:t>
            </a:r>
            <a:endParaRPr b="1" sz="3100">
              <a:solidFill>
                <a:schemeClr val="dk1"/>
              </a:solidFill>
            </a:endParaRPr>
          </a:p>
        </p:txBody>
      </p:sp>
      <p:sp>
        <p:nvSpPr>
          <p:cNvPr id="139" name="Google Shape;139;p22"/>
          <p:cNvSpPr txBox="1"/>
          <p:nvPr>
            <p:ph idx="1" type="subTitle"/>
          </p:nvPr>
        </p:nvSpPr>
        <p:spPr>
          <a:xfrm>
            <a:off x="4913975" y="1198075"/>
            <a:ext cx="36972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chemeClr val="dk1"/>
                </a:solidFill>
              </a:rPr>
              <a:t>MySQL</a:t>
            </a:r>
            <a:br>
              <a:rPr b="1" lang="es" sz="3100">
                <a:solidFill>
                  <a:schemeClr val="dk1"/>
                </a:solidFill>
              </a:rPr>
            </a:br>
            <a:r>
              <a:rPr b="1" lang="es" sz="3100">
                <a:solidFill>
                  <a:schemeClr val="dk1"/>
                </a:solidFill>
              </a:rPr>
              <a:t>MariaDB</a:t>
            </a:r>
            <a:endParaRPr b="1"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420">
                <a:solidFill>
                  <a:schemeClr val="lt1"/>
                </a:solidFill>
              </a:rPr>
              <a:t>Phase 2: New Vulnerability</a:t>
            </a:r>
            <a:endParaRPr b="1" sz="3020">
              <a:solidFill>
                <a:schemeClr val="lt1"/>
              </a:solidFill>
            </a:endParaRPr>
          </a:p>
        </p:txBody>
      </p:sp>
      <p:sp>
        <p:nvSpPr>
          <p:cNvPr id="147" name="Google Shape;147;p23"/>
          <p:cNvSpPr txBox="1"/>
          <p:nvPr>
            <p:ph idx="1" type="subTitle"/>
          </p:nvPr>
        </p:nvSpPr>
        <p:spPr>
          <a:xfrm>
            <a:off x="712838" y="1152175"/>
            <a:ext cx="3776700" cy="21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chemeClr val="dk1"/>
                </a:solidFill>
              </a:rPr>
              <a:t>Creating the Script</a:t>
            </a:r>
            <a:endParaRPr b="1" sz="3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200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https://www.revshells.com/</a:t>
            </a:r>
            <a:endParaRPr b="1" sz="4200">
              <a:solidFill>
                <a:schemeClr val="lt1"/>
              </a:solidFill>
            </a:endParaRPr>
          </a:p>
        </p:txBody>
      </p:sp>
      <p:sp>
        <p:nvSpPr>
          <p:cNvPr id="148" name="Google Shape;148;p23"/>
          <p:cNvSpPr txBox="1"/>
          <p:nvPr>
            <p:ph type="ctrTitle"/>
          </p:nvPr>
        </p:nvSpPr>
        <p:spPr>
          <a:xfrm>
            <a:off x="1726900" y="3753800"/>
            <a:ext cx="71367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420">
                <a:solidFill>
                  <a:schemeClr val="lt1"/>
                </a:solidFill>
              </a:rPr>
              <a:t>Backdoor Service / Reverse Shell</a:t>
            </a:r>
            <a:endParaRPr b="1" sz="3020">
              <a:solidFill>
                <a:schemeClr val="lt1"/>
              </a:solidFill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875" y="2201819"/>
            <a:ext cx="4229125" cy="174223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>
            <p:ph idx="1" type="subTitle"/>
          </p:nvPr>
        </p:nvSpPr>
        <p:spPr>
          <a:xfrm>
            <a:off x="4824450" y="1152175"/>
            <a:ext cx="4117500" cy="21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chemeClr val="dk1"/>
                </a:solidFill>
              </a:rPr>
              <a:t>  Creating a Service</a:t>
            </a:r>
            <a:endParaRPr b="1" sz="4200">
              <a:solidFill>
                <a:schemeClr val="lt1"/>
              </a:solidFill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18350" y="1703900"/>
            <a:ext cx="3399050" cy="22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1258175" y="1115075"/>
            <a:ext cx="7605300" cy="30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Phase 3:</a:t>
            </a:r>
            <a:endParaRPr b="1" sz="5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900">
                <a:solidFill>
                  <a:schemeClr val="dk1"/>
                </a:solidFill>
              </a:rPr>
              <a:t>Patching</a:t>
            </a:r>
            <a:endParaRPr b="1" sz="5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200">
                <a:solidFill>
                  <a:schemeClr val="dk1"/>
                </a:solidFill>
              </a:rPr>
              <a:t>&amp; Hardening</a:t>
            </a:r>
            <a:endParaRPr b="1" sz="4200">
              <a:solidFill>
                <a:schemeClr val="dk1"/>
              </a:solidFill>
            </a:endParaRPr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7224" y="1157149"/>
            <a:ext cx="3043400" cy="28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220">
                <a:solidFill>
                  <a:schemeClr val="lt1"/>
                </a:solidFill>
              </a:rPr>
              <a:t>Phase 3: Fixing Vulnerabilities</a:t>
            </a:r>
            <a:endParaRPr b="1" sz="2820">
              <a:solidFill>
                <a:schemeClr val="lt1"/>
              </a:solidFill>
            </a:endParaRPr>
          </a:p>
        </p:txBody>
      </p:sp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729900" y="1252600"/>
            <a:ext cx="38421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 sz="2400">
                <a:solidFill>
                  <a:schemeClr val="dk1"/>
                </a:solidFill>
              </a:rPr>
              <a:t>Delete the backdoor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 sz="2400">
                <a:solidFill>
                  <a:schemeClr val="dk1"/>
                </a:solidFill>
              </a:rPr>
              <a:t>Updating the machine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 sz="2400">
                <a:solidFill>
                  <a:schemeClr val="dk1"/>
                </a:solidFill>
              </a:rPr>
              <a:t>Creating a new update service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 sz="2400">
                <a:solidFill>
                  <a:schemeClr val="dk1"/>
                </a:solidFill>
              </a:rPr>
              <a:t>Deleting or </a:t>
            </a:r>
            <a:r>
              <a:rPr b="1" lang="es" sz="2400">
                <a:solidFill>
                  <a:schemeClr val="dk1"/>
                </a:solidFill>
              </a:rPr>
              <a:t>changing vulnerable Users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1340774"/>
            <a:ext cx="4184725" cy="70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1363" y="2176475"/>
            <a:ext cx="2406000" cy="183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220">
                <a:solidFill>
                  <a:schemeClr val="lt1"/>
                </a:solidFill>
              </a:rPr>
              <a:t>Phase 3: Hardening Tools</a:t>
            </a:r>
            <a:endParaRPr b="1" sz="282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805600" y="1034550"/>
            <a:ext cx="3766500" cy="30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>
                <a:solidFill>
                  <a:schemeClr val="dk1"/>
                </a:solidFill>
              </a:rPr>
              <a:t>Installing UFW </a:t>
            </a:r>
            <a:r>
              <a:rPr lang="es" sz="1500">
                <a:solidFill>
                  <a:schemeClr val="dk1"/>
                </a:solidFill>
              </a:rPr>
              <a:t> </a:t>
            </a:r>
            <a:r>
              <a:rPr b="1" lang="es" sz="1600">
                <a:solidFill>
                  <a:schemeClr val="dk1"/>
                </a:solidFill>
              </a:rPr>
              <a:t>Uncomplicated Firewall</a:t>
            </a:r>
            <a:endParaRPr b="1" sz="16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 sz="3100">
                <a:solidFill>
                  <a:schemeClr val="dk1"/>
                </a:solidFill>
              </a:rPr>
              <a:t>Wazuh (SIEM)</a:t>
            </a:r>
            <a:endParaRPr b="1" sz="31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s" sz="3100">
                <a:solidFill>
                  <a:schemeClr val="dk1"/>
                </a:solidFill>
              </a:rPr>
              <a:t>ClamAV </a:t>
            </a:r>
            <a:br>
              <a:rPr b="1" lang="es" sz="2400">
                <a:solidFill>
                  <a:schemeClr val="dk1"/>
                </a:solidFill>
              </a:rPr>
            </a:br>
            <a:r>
              <a:rPr b="1" lang="es" sz="1600">
                <a:solidFill>
                  <a:schemeClr val="dk1"/>
                </a:solidFill>
              </a:rPr>
              <a:t>Antivirus Open Source</a:t>
            </a:r>
            <a:endParaRPr b="1" sz="1600">
              <a:solidFill>
                <a:schemeClr val="dk1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s" sz="3100">
                <a:solidFill>
                  <a:schemeClr val="dk1"/>
                </a:solidFill>
              </a:rPr>
              <a:t>RKHunter</a:t>
            </a:r>
            <a:br>
              <a:rPr b="1" lang="es" sz="3100">
                <a:solidFill>
                  <a:schemeClr val="dk1"/>
                </a:solidFill>
              </a:rPr>
            </a:br>
            <a:r>
              <a:rPr b="1" lang="es" sz="1600">
                <a:solidFill>
                  <a:schemeClr val="dk1"/>
                </a:solidFill>
              </a:rPr>
              <a:t>Root Kit Hunter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8675" y="2969525"/>
            <a:ext cx="3904289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>
            <p:ph idx="1" type="subTitle"/>
          </p:nvPr>
        </p:nvSpPr>
        <p:spPr>
          <a:xfrm>
            <a:off x="4847575" y="1035000"/>
            <a:ext cx="3766500" cy="3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New Rules (UFW)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" sz="1600">
                <a:solidFill>
                  <a:schemeClr val="dk1"/>
                </a:solidFill>
              </a:rPr>
              <a:t>Blocking generic accesses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" sz="1600">
                <a:solidFill>
                  <a:schemeClr val="dk1"/>
                </a:solidFill>
              </a:rPr>
              <a:t>Blocking Root access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" sz="1600">
                <a:solidFill>
                  <a:schemeClr val="dk1"/>
                </a:solidFill>
              </a:rPr>
              <a:t>Opening Secure ports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220">
                <a:solidFill>
                  <a:schemeClr val="lt1"/>
                </a:solidFill>
              </a:rPr>
              <a:t>Phase 3: Gobernance Impact</a:t>
            </a:r>
            <a:endParaRPr b="1" sz="2820">
              <a:solidFill>
                <a:schemeClr val="lt1"/>
              </a:solidFill>
            </a:endParaRPr>
          </a:p>
        </p:txBody>
      </p:sp>
      <p:graphicFrame>
        <p:nvGraphicFramePr>
          <p:cNvPr id="187" name="Google Shape;187;p27"/>
          <p:cNvGraphicFramePr/>
          <p:nvPr/>
        </p:nvGraphicFramePr>
        <p:xfrm>
          <a:off x="952500" y="13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{129FD4CA-B058-4C1F-A268-80BAEFB1D5E2}</a:tableStyleId>
              </a:tblPr>
              <a:tblGrid>
                <a:gridCol w="2413000"/>
                <a:gridCol w="2413000"/>
                <a:gridCol w="2413000"/>
              </a:tblGrid>
              <a:tr h="6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ISO Standards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27001/27002/27003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Market Exclusion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NIST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CSF 2.0, SP 800-61, 800-53, 800-30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Market Exclusion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EU Regulations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GDPR, NIS2 DORA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€20~35 millions OR 4~7% Global Net income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US Regulations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HIPAA, CCPA, GLBA 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$50k~100k per violation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7"/>
          <p:cNvSpPr txBox="1"/>
          <p:nvPr>
            <p:ph type="ctrTitle"/>
          </p:nvPr>
        </p:nvSpPr>
        <p:spPr>
          <a:xfrm>
            <a:off x="2884800" y="3990275"/>
            <a:ext cx="3374400" cy="9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4020">
                <a:solidFill>
                  <a:schemeClr val="lt1"/>
                </a:solidFill>
              </a:rPr>
              <a:t>Conclusions</a:t>
            </a:r>
            <a:endParaRPr b="1" sz="36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1925" y="53450"/>
            <a:ext cx="981550" cy="9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875" y="4179275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/>
          <p:nvPr>
            <p:ph type="ctrTitle"/>
          </p:nvPr>
        </p:nvSpPr>
        <p:spPr>
          <a:xfrm>
            <a:off x="1666300" y="-226500"/>
            <a:ext cx="6215400" cy="11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3220">
                <a:solidFill>
                  <a:schemeClr val="lt1"/>
                </a:solidFill>
              </a:rPr>
              <a:t>Phase 3: Gobernance Impact</a:t>
            </a:r>
            <a:endParaRPr b="1" sz="2820">
              <a:solidFill>
                <a:schemeClr val="lt1"/>
              </a:solidFill>
            </a:endParaRPr>
          </a:p>
        </p:txBody>
      </p:sp>
      <p:graphicFrame>
        <p:nvGraphicFramePr>
          <p:cNvPr id="196" name="Google Shape;196;p28"/>
          <p:cNvGraphicFramePr/>
          <p:nvPr/>
        </p:nvGraphicFramePr>
        <p:xfrm>
          <a:off x="952500" y="13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{129FD4CA-B058-4C1F-A268-80BAEFB1D5E2}</a:tableStyleId>
              </a:tblPr>
              <a:tblGrid>
                <a:gridCol w="2413000"/>
                <a:gridCol w="2413000"/>
                <a:gridCol w="2413000"/>
              </a:tblGrid>
              <a:tr h="65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ISO Standards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27001/27002/27003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Market Exclusion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NIST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CSF 2.0, SP 800-61, 800-53, 800-30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Market Exclusion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EU Regulations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GDPR, NIS2 DORA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€20~35 millions OR 4~7% Global Net income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900"/>
                        <a:t>US Regulations</a:t>
                      </a:r>
                      <a:endParaRPr b="1"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HIPAA, CCPA, GLBA 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500"/>
                        <a:t>$50k~100k per violation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8"/>
          <p:cNvSpPr txBox="1"/>
          <p:nvPr>
            <p:ph type="ctrTitle"/>
          </p:nvPr>
        </p:nvSpPr>
        <p:spPr>
          <a:xfrm>
            <a:off x="2884800" y="3990275"/>
            <a:ext cx="3374400" cy="9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SzPts val="990"/>
              <a:buNone/>
            </a:pPr>
            <a:r>
              <a:rPr b="1" lang="es" sz="4020">
                <a:solidFill>
                  <a:schemeClr val="lt1"/>
                </a:solidFill>
              </a:rPr>
              <a:t>Conclusions</a:t>
            </a:r>
            <a:endParaRPr b="1" sz="36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