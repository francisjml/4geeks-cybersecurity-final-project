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35C81E0B-FFA4-420F-9B5C-3853116F3F96}">
  <a:tblStyle styleId="{35C81E0B-FFA4-420F-9B5C-3853116F3F96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11" Type="http://schemas.openxmlformats.org/officeDocument/2006/relationships/slide" Target="slides/slide5.xml"/><Relationship Id="rId22" Type="http://schemas.openxmlformats.org/officeDocument/2006/relationships/slide" Target="slides/slide16.xml"/><Relationship Id="rId10" Type="http://schemas.openxmlformats.org/officeDocument/2006/relationships/slide" Target="slides/slide4.xml"/><Relationship Id="rId21" Type="http://schemas.openxmlformats.org/officeDocument/2006/relationships/slide" Target="slides/slide15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5" Type="http://schemas.openxmlformats.org/officeDocument/2006/relationships/slideMaster" Target="slideMasters/slideMaster1.xml"/><Relationship Id="rId19" Type="http://schemas.openxmlformats.org/officeDocument/2006/relationships/slide" Target="slides/slide13.xml"/><Relationship Id="rId6" Type="http://schemas.openxmlformats.org/officeDocument/2006/relationships/notesMaster" Target="notesMasters/notesMaster1.xml"/><Relationship Id="rId18" Type="http://schemas.openxmlformats.org/officeDocument/2006/relationships/slide" Target="slides/slide12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3c861b15483_0_6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3c861b15483_0_6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g3c8918d9c72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" name="Google Shape;61;g3c8918d9c72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g3c8918d9c72_0_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" name="Google Shape;71;g3c8918d9c72_0_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g3c8918d9c72_0_10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" name="Google Shape;79;g3c8918d9c72_0_1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3c8918d9c72_0_1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3c8918d9c72_0_1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g3c8918d9c72_0_1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" name="Google Shape;95;g3c8918d9c72_0_1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g3c8918d9c72_0_9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5" name="Google Shape;105;g3c8918d9c72_0_9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g3c8918d9c72_0_13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3" name="Google Shape;113;g3c8918d9c72_0_13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g3c8918d9c72_0_2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1" name="Google Shape;121;g3c8918d9c72_0_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c8918d9c72_0_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c8918d9c72_0_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g3c8918d9c72_0_4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1" name="Google Shape;141;g3c8918d9c72_0_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g3c8918d9c72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3" name="Google Shape;153;g3c8918d9c72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g3c8918d9c72_0_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1" name="Google Shape;161;g3c8918d9c72_0_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g3c8918d9c72_0_18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1" name="Google Shape;171;g3c8918d9c72_0_18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g3c8918d9c72_0_19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1" name="Google Shape;181;g3c8918d9c72_0_19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g3c8918d9c72_0_22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0" name="Google Shape;190;g3c8918d9c72_0_2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0.xml"/><Relationship Id="rId10" Type="http://schemas.openxmlformats.org/officeDocument/2006/relationships/slideLayout" Target="../slideLayouts/slideLayout9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1.xml"/><Relationship Id="rId1" Type="http://schemas.openxmlformats.org/officeDocument/2006/relationships/image" Target="../media/image1.jp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9" Type="http://schemas.openxmlformats.org/officeDocument/2006/relationships/slideLayout" Target="../slideLayouts/slideLayout8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blipFill>
          <a:blip r:embed="rId1">
            <a:alphaModFix/>
          </a:blip>
          <a:stretch>
            <a:fillRect/>
          </a:stretch>
        </a:blip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jpg"/><Relationship Id="rId4" Type="http://schemas.openxmlformats.org/officeDocument/2006/relationships/image" Target="../media/image4.png"/><Relationship Id="rId5" Type="http://schemas.openxmlformats.org/officeDocument/2006/relationships/image" Target="../media/image2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jpg"/><Relationship Id="rId4" Type="http://schemas.openxmlformats.org/officeDocument/2006/relationships/image" Target="../media/image4.png"/><Relationship Id="rId5" Type="http://schemas.openxmlformats.org/officeDocument/2006/relationships/image" Target="../media/image2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png"/><Relationship Id="rId5" Type="http://schemas.openxmlformats.org/officeDocument/2006/relationships/image" Target="../media/image2.png"/><Relationship Id="rId6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4.png"/><Relationship Id="rId5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Relationship Id="rId4" Type="http://schemas.openxmlformats.org/officeDocument/2006/relationships/image" Target="../media/image4.png"/><Relationship Id="rId5" Type="http://schemas.openxmlformats.org/officeDocument/2006/relationships/image" Target="../media/image2.png"/><Relationship Id="rId6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jpg"/><Relationship Id="rId4" Type="http://schemas.openxmlformats.org/officeDocument/2006/relationships/image" Target="../media/image4.png"/><Relationship Id="rId5" Type="http://schemas.openxmlformats.org/officeDocument/2006/relationships/image" Target="../media/image2.png"/><Relationship Id="rId6" Type="http://schemas.openxmlformats.org/officeDocument/2006/relationships/image" Target="../media/image8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jpg"/><Relationship Id="rId4" Type="http://schemas.openxmlformats.org/officeDocument/2006/relationships/image" Target="../media/image4.png"/><Relationship Id="rId5" Type="http://schemas.openxmlformats.org/officeDocument/2006/relationships/image" Target="../media/image2.png"/><Relationship Id="rId6" Type="http://schemas.openxmlformats.org/officeDocument/2006/relationships/image" Target="../media/image7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jpg"/><Relationship Id="rId4" Type="http://schemas.openxmlformats.org/officeDocument/2006/relationships/image" Target="../media/image4.png"/><Relationship Id="rId5" Type="http://schemas.openxmlformats.org/officeDocument/2006/relationships/image" Target="../media/image2.png"/><Relationship Id="rId6" Type="http://schemas.openxmlformats.org/officeDocument/2006/relationships/image" Target="../media/image9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jpg"/><Relationship Id="rId4" Type="http://schemas.openxmlformats.org/officeDocument/2006/relationships/image" Target="../media/image4.png"/><Relationship Id="rId5" Type="http://schemas.openxmlformats.org/officeDocument/2006/relationships/image" Target="../media/image2.png"/><Relationship Id="rId6" Type="http://schemas.openxmlformats.org/officeDocument/2006/relationships/image" Target="../media/image10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jpg"/><Relationship Id="rId4" Type="http://schemas.openxmlformats.org/officeDocument/2006/relationships/image" Target="../media/image4.png"/><Relationship Id="rId5" Type="http://schemas.openxmlformats.org/officeDocument/2006/relationships/image" Target="../media/image2.png"/><Relationship Id="rId6" Type="http://schemas.openxmlformats.org/officeDocument/2006/relationships/image" Target="../media/image11.png"/><Relationship Id="rId7" Type="http://schemas.openxmlformats.org/officeDocument/2006/relationships/image" Target="../media/image1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jpg"/><Relationship Id="rId4" Type="http://schemas.openxmlformats.org/officeDocument/2006/relationships/image" Target="../media/image4.png"/><Relationship Id="rId5" Type="http://schemas.openxmlformats.org/officeDocument/2006/relationships/image" Target="../media/image2.png"/><Relationship Id="rId6" Type="http://schemas.openxmlformats.org/officeDocument/2006/relationships/hyperlink" Target="https://www.revshells.com/" TargetMode="External"/><Relationship Id="rId7" Type="http://schemas.openxmlformats.org/officeDocument/2006/relationships/image" Target="../media/image14.png"/><Relationship Id="rId8" Type="http://schemas.openxmlformats.org/officeDocument/2006/relationships/image" Target="../media/image13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jpg"/><Relationship Id="rId4" Type="http://schemas.openxmlformats.org/officeDocument/2006/relationships/image" Target="../media/image4.png"/><Relationship Id="rId5" Type="http://schemas.openxmlformats.org/officeDocument/2006/relationships/image" Target="../media/image2.png"/><Relationship Id="rId6" Type="http://schemas.openxmlformats.org/officeDocument/2006/relationships/image" Target="../media/image1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jpg"/><Relationship Id="rId4" Type="http://schemas.openxmlformats.org/officeDocument/2006/relationships/image" Target="../media/image4.png"/><Relationship Id="rId5" Type="http://schemas.openxmlformats.org/officeDocument/2006/relationships/image" Target="../media/image2.png"/><Relationship Id="rId6" Type="http://schemas.openxmlformats.org/officeDocument/2006/relationships/image" Target="../media/image15.png"/><Relationship Id="rId7" Type="http://schemas.openxmlformats.org/officeDocument/2006/relationships/image" Target="../media/image1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jpg"/><Relationship Id="rId4" Type="http://schemas.openxmlformats.org/officeDocument/2006/relationships/image" Target="../media/image4.png"/><Relationship Id="rId5" Type="http://schemas.openxmlformats.org/officeDocument/2006/relationships/image" Target="../media/image2.png"/><Relationship Id="rId6" Type="http://schemas.openxmlformats.org/officeDocument/2006/relationships/image" Target="../media/image18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3.jpg"/><Relationship Id="rId4" Type="http://schemas.openxmlformats.org/officeDocument/2006/relationships/image" Target="../media/image4.png"/><Relationship Id="rId5" Type="http://schemas.openxmlformats.org/officeDocument/2006/relationships/image" Target="../media/image2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jpg"/><Relationship Id="rId4" Type="http://schemas.openxmlformats.org/officeDocument/2006/relationships/image" Target="../media/image4.png"/><Relationship Id="rId5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>
            <p:ph type="ctrTitle"/>
          </p:nvPr>
        </p:nvSpPr>
        <p:spPr>
          <a:xfrm>
            <a:off x="805600" y="519150"/>
            <a:ext cx="8058000" cy="3088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s" sz="5600">
                <a:latin typeface="Liberation Sans"/>
                <a:ea typeface="Liberation Sans"/>
                <a:cs typeface="Liberation Sans"/>
                <a:sym typeface="Liberation Sans"/>
              </a:rPr>
              <a:t>Executive</a:t>
            </a:r>
            <a:r>
              <a:rPr b="1" lang="es" sz="5600">
                <a:latin typeface="Liberation Sans"/>
                <a:ea typeface="Liberation Sans"/>
                <a:cs typeface="Liberation Sans"/>
                <a:sym typeface="Liberation Sans"/>
              </a:rPr>
              <a:t> Report: </a:t>
            </a:r>
            <a:endParaRPr b="1" sz="5600">
              <a:latin typeface="Liberation Sans"/>
              <a:ea typeface="Liberation Sans"/>
              <a:cs typeface="Liberation Sans"/>
              <a:sym typeface="Liberation Sans"/>
            </a:endParaRPr>
          </a:p>
          <a:p>
            <a:pPr indent="0" lvl="0" marL="0" rtl="0" algn="l">
              <a:spcBef>
                <a:spcPts val="1200"/>
              </a:spcBef>
              <a:spcAft>
                <a:spcPts val="600"/>
              </a:spcAft>
              <a:buNone/>
            </a:pPr>
            <a:r>
              <a:rPr b="1" lang="es" sz="6700">
                <a:latin typeface="Liberation Sans"/>
                <a:ea typeface="Liberation Sans"/>
                <a:cs typeface="Liberation Sans"/>
                <a:sym typeface="Liberation Sans"/>
              </a:rPr>
              <a:t>Final Project</a:t>
            </a:r>
            <a:endParaRPr sz="7500"/>
          </a:p>
        </p:txBody>
      </p:sp>
      <p:sp>
        <p:nvSpPr>
          <p:cNvPr id="55" name="Google Shape;55;p13"/>
          <p:cNvSpPr txBox="1"/>
          <p:nvPr>
            <p:ph idx="1" type="subTitle"/>
          </p:nvPr>
        </p:nvSpPr>
        <p:spPr>
          <a:xfrm>
            <a:off x="231375" y="242400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3000">
                <a:solidFill>
                  <a:schemeClr val="lt1"/>
                </a:solidFill>
              </a:rPr>
              <a:t>Francisco José Morante Lozada</a:t>
            </a:r>
            <a:endParaRPr b="1" sz="3000">
              <a:solidFill>
                <a:schemeClr val="lt1"/>
              </a:solidFill>
            </a:endParaRPr>
          </a:p>
        </p:txBody>
      </p:sp>
      <p:pic>
        <p:nvPicPr>
          <p:cNvPr id="56" name="Google Shape;56;p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881925" y="53450"/>
            <a:ext cx="981550" cy="981550"/>
          </a:xfrm>
          <a:prstGeom prst="rect">
            <a:avLst/>
          </a:prstGeom>
          <a:noFill/>
          <a:ln>
            <a:noFill/>
          </a:ln>
        </p:spPr>
      </p:pic>
      <p:sp>
        <p:nvSpPr>
          <p:cNvPr id="57" name="Google Shape;57;p13"/>
          <p:cNvSpPr txBox="1"/>
          <p:nvPr>
            <p:ph idx="1" type="subTitle"/>
          </p:nvPr>
        </p:nvSpPr>
        <p:spPr>
          <a:xfrm>
            <a:off x="432925" y="417927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10000"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2100">
                <a:solidFill>
                  <a:schemeClr val="lt1"/>
                </a:solidFill>
              </a:rPr>
              <a:t>4 Geeks Academy</a:t>
            </a:r>
            <a:endParaRPr b="1" sz="2100">
              <a:solidFill>
                <a:schemeClr val="lt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2100">
                <a:solidFill>
                  <a:schemeClr val="lt1"/>
                </a:solidFill>
              </a:rPr>
              <a:t>Cybersecurity Bootcamp</a:t>
            </a:r>
            <a:endParaRPr b="1" sz="2100">
              <a:solidFill>
                <a:schemeClr val="lt1"/>
              </a:solidFill>
            </a:endParaRPr>
          </a:p>
        </p:txBody>
      </p:sp>
      <p:pic>
        <p:nvPicPr>
          <p:cNvPr id="58" name="Google Shape;58;p13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42875" y="4179275"/>
            <a:ext cx="792600" cy="792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4"/>
          <p:cNvSpPr txBox="1"/>
          <p:nvPr>
            <p:ph type="ctrTitle"/>
          </p:nvPr>
        </p:nvSpPr>
        <p:spPr>
          <a:xfrm>
            <a:off x="623400" y="108775"/>
            <a:ext cx="8520600" cy="870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1200"/>
              </a:spcBef>
              <a:spcAft>
                <a:spcPts val="600"/>
              </a:spcAft>
              <a:buNone/>
            </a:pPr>
            <a:r>
              <a:rPr b="1" lang="es" sz="4300">
                <a:solidFill>
                  <a:schemeClr val="lt1"/>
                </a:solidFill>
                <a:latin typeface="Liberation Sans"/>
                <a:ea typeface="Liberation Sans"/>
                <a:cs typeface="Liberation Sans"/>
                <a:sym typeface="Liberation Sans"/>
              </a:rPr>
              <a:t>Index</a:t>
            </a:r>
            <a:endParaRPr sz="5100">
              <a:solidFill>
                <a:schemeClr val="lt1"/>
              </a:solidFill>
            </a:endParaRPr>
          </a:p>
        </p:txBody>
      </p:sp>
      <p:sp>
        <p:nvSpPr>
          <p:cNvPr id="64" name="Google Shape;64;p14"/>
          <p:cNvSpPr txBox="1"/>
          <p:nvPr>
            <p:ph idx="1" type="subTitle"/>
          </p:nvPr>
        </p:nvSpPr>
        <p:spPr>
          <a:xfrm>
            <a:off x="453100" y="979675"/>
            <a:ext cx="4646400" cy="244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s" sz="2300">
                <a:solidFill>
                  <a:schemeClr val="dk1"/>
                </a:solidFill>
              </a:rPr>
              <a:t>Phase 1, Forensic Autopsy:</a:t>
            </a:r>
            <a:endParaRPr b="1" sz="2300">
              <a:solidFill>
                <a:schemeClr val="dk1"/>
              </a:solidFill>
            </a:endParaRPr>
          </a:p>
          <a:p>
            <a:pPr indent="-3746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Char char="●"/>
            </a:pPr>
            <a:r>
              <a:rPr b="1" lang="es" sz="2300">
                <a:solidFill>
                  <a:schemeClr val="dk1"/>
                </a:solidFill>
              </a:rPr>
              <a:t>Recognition</a:t>
            </a:r>
            <a:endParaRPr b="1" sz="2300">
              <a:solidFill>
                <a:schemeClr val="dk1"/>
              </a:solidFill>
            </a:endParaRPr>
          </a:p>
          <a:p>
            <a:pPr indent="-3746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Char char="●"/>
            </a:pPr>
            <a:r>
              <a:rPr b="1" lang="es" sz="2300">
                <a:solidFill>
                  <a:schemeClr val="dk1"/>
                </a:solidFill>
              </a:rPr>
              <a:t>Suspicious Findings</a:t>
            </a:r>
            <a:endParaRPr b="1" sz="2300">
              <a:solidFill>
                <a:schemeClr val="dk1"/>
              </a:solidFill>
            </a:endParaRPr>
          </a:p>
          <a:p>
            <a:pPr indent="-3746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Char char="●"/>
            </a:pPr>
            <a:r>
              <a:rPr b="1" lang="es" sz="2300">
                <a:solidFill>
                  <a:schemeClr val="dk1"/>
                </a:solidFill>
              </a:rPr>
              <a:t>Conclusions</a:t>
            </a:r>
            <a:endParaRPr b="1" sz="2300">
              <a:solidFill>
                <a:schemeClr val="dk1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1" sz="2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1">
              <a:solidFill>
                <a:schemeClr val="dk1"/>
              </a:solidFill>
            </a:endParaRPr>
          </a:p>
        </p:txBody>
      </p:sp>
      <p:pic>
        <p:nvPicPr>
          <p:cNvPr id="65" name="Google Shape;65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881925" y="53450"/>
            <a:ext cx="981550" cy="981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66" name="Google Shape;66;p14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42875" y="4179275"/>
            <a:ext cx="792600" cy="792600"/>
          </a:xfrm>
          <a:prstGeom prst="rect">
            <a:avLst/>
          </a:prstGeom>
          <a:noFill/>
          <a:ln>
            <a:noFill/>
          </a:ln>
        </p:spPr>
      </p:pic>
      <p:sp>
        <p:nvSpPr>
          <p:cNvPr id="67" name="Google Shape;67;p14"/>
          <p:cNvSpPr txBox="1"/>
          <p:nvPr/>
        </p:nvSpPr>
        <p:spPr>
          <a:xfrm>
            <a:off x="4740300" y="979675"/>
            <a:ext cx="4403700" cy="2647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2000">
                <a:solidFill>
                  <a:schemeClr val="dk1"/>
                </a:solidFill>
              </a:rPr>
              <a:t>Phase 2, Vulnerabilities and Exploitation:</a:t>
            </a:r>
            <a:endParaRPr b="1" sz="2000">
              <a:solidFill>
                <a:schemeClr val="dk1"/>
              </a:solidFill>
            </a:endParaRPr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</a:pPr>
            <a:r>
              <a:rPr b="1" lang="es" sz="2000">
                <a:solidFill>
                  <a:schemeClr val="dk1"/>
                </a:solidFill>
              </a:rPr>
              <a:t>Nmap, Gobuster, WpScan, SSH, FTP</a:t>
            </a:r>
            <a:endParaRPr b="1" sz="2000">
              <a:solidFill>
                <a:schemeClr val="dk1"/>
              </a:solidFill>
            </a:endParaRPr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</a:pPr>
            <a:r>
              <a:rPr b="1" lang="es" sz="2000">
                <a:solidFill>
                  <a:schemeClr val="dk1"/>
                </a:solidFill>
              </a:rPr>
              <a:t>Server Machine: Wordpress, MySQL, Journalctl</a:t>
            </a:r>
            <a:endParaRPr b="1" sz="2000">
              <a:solidFill>
                <a:schemeClr val="dk1"/>
              </a:solidFill>
            </a:endParaRPr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</a:pPr>
            <a:r>
              <a:rPr b="1" lang="es" sz="2000">
                <a:solidFill>
                  <a:schemeClr val="dk1"/>
                </a:solidFill>
              </a:rPr>
              <a:t>Exploiting another Vulnerability, Backdoor</a:t>
            </a:r>
            <a:endParaRPr/>
          </a:p>
        </p:txBody>
      </p:sp>
      <p:sp>
        <p:nvSpPr>
          <p:cNvPr id="68" name="Google Shape;68;p14"/>
          <p:cNvSpPr txBox="1"/>
          <p:nvPr/>
        </p:nvSpPr>
        <p:spPr>
          <a:xfrm>
            <a:off x="453100" y="2651500"/>
            <a:ext cx="4403700" cy="1647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1900">
                <a:solidFill>
                  <a:schemeClr val="dk1"/>
                </a:solidFill>
              </a:rPr>
              <a:t>Phase 3, Patching &amp; Hardening</a:t>
            </a:r>
            <a:endParaRPr b="1" sz="1900">
              <a:solidFill>
                <a:schemeClr val="dk1"/>
              </a:solidFill>
            </a:endParaRPr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Char char="●"/>
            </a:pPr>
            <a:r>
              <a:rPr b="1" lang="es" sz="1900">
                <a:solidFill>
                  <a:schemeClr val="dk1"/>
                </a:solidFill>
              </a:rPr>
              <a:t>Fixing vulnerabilities</a:t>
            </a:r>
            <a:endParaRPr b="1" sz="1900">
              <a:solidFill>
                <a:schemeClr val="dk1"/>
              </a:solidFill>
            </a:endParaRPr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Char char="●"/>
            </a:pPr>
            <a:r>
              <a:rPr b="1" lang="es" sz="1900">
                <a:solidFill>
                  <a:schemeClr val="dk1"/>
                </a:solidFill>
              </a:rPr>
              <a:t>Hardening tools</a:t>
            </a:r>
            <a:endParaRPr b="1" sz="1900">
              <a:solidFill>
                <a:schemeClr val="dk1"/>
              </a:solidFill>
            </a:endParaRPr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Char char="●"/>
            </a:pPr>
            <a:r>
              <a:rPr b="1" lang="es" sz="1900">
                <a:solidFill>
                  <a:schemeClr val="dk1"/>
                </a:solidFill>
              </a:rPr>
              <a:t>Incident Response Plan and Conclusions</a:t>
            </a:r>
            <a:endParaRPr b="1" sz="19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3" name="Google Shape;73;p1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881925" y="53450"/>
            <a:ext cx="981550" cy="981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74" name="Google Shape;74;p15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42875" y="4179275"/>
            <a:ext cx="792600" cy="792600"/>
          </a:xfrm>
          <a:prstGeom prst="rect">
            <a:avLst/>
          </a:prstGeom>
          <a:noFill/>
          <a:ln>
            <a:noFill/>
          </a:ln>
        </p:spPr>
      </p:pic>
      <p:sp>
        <p:nvSpPr>
          <p:cNvPr id="75" name="Google Shape;75;p15"/>
          <p:cNvSpPr txBox="1"/>
          <p:nvPr/>
        </p:nvSpPr>
        <p:spPr>
          <a:xfrm>
            <a:off x="1258175" y="1039650"/>
            <a:ext cx="7605300" cy="306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5900">
                <a:solidFill>
                  <a:schemeClr val="dk1"/>
                </a:solidFill>
              </a:rPr>
              <a:t>Phase 1:</a:t>
            </a:r>
            <a:endParaRPr b="1" sz="59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5900">
                <a:solidFill>
                  <a:schemeClr val="dk1"/>
                </a:solidFill>
              </a:rPr>
              <a:t>Forensic </a:t>
            </a:r>
            <a:endParaRPr b="1" sz="59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5900">
                <a:solidFill>
                  <a:schemeClr val="dk1"/>
                </a:solidFill>
              </a:rPr>
              <a:t>Autopsy</a:t>
            </a:r>
            <a:endParaRPr b="1" sz="5900">
              <a:solidFill>
                <a:schemeClr val="dk1"/>
              </a:solidFill>
            </a:endParaRPr>
          </a:p>
        </p:txBody>
      </p:sp>
      <p:pic>
        <p:nvPicPr>
          <p:cNvPr id="76" name="Google Shape;76;p15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018850" y="721250"/>
            <a:ext cx="3571375" cy="3675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6"/>
          <p:cNvSpPr txBox="1"/>
          <p:nvPr>
            <p:ph type="ctrTitle"/>
          </p:nvPr>
        </p:nvSpPr>
        <p:spPr>
          <a:xfrm>
            <a:off x="1343075" y="-226500"/>
            <a:ext cx="8298000" cy="1261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1200"/>
              </a:spcBef>
              <a:spcAft>
                <a:spcPts val="600"/>
              </a:spcAft>
              <a:buNone/>
            </a:pPr>
            <a:r>
              <a:rPr b="1" lang="es" sz="4800">
                <a:solidFill>
                  <a:schemeClr val="lt1"/>
                </a:solidFill>
              </a:rPr>
              <a:t>Phase 1: Recognition</a:t>
            </a:r>
            <a:endParaRPr b="1" sz="4800">
              <a:solidFill>
                <a:schemeClr val="lt1"/>
              </a:solidFill>
            </a:endParaRPr>
          </a:p>
        </p:txBody>
      </p:sp>
      <p:sp>
        <p:nvSpPr>
          <p:cNvPr id="82" name="Google Shape;82;p16"/>
          <p:cNvSpPr txBox="1"/>
          <p:nvPr>
            <p:ph idx="1" type="subTitle"/>
          </p:nvPr>
        </p:nvSpPr>
        <p:spPr>
          <a:xfrm>
            <a:off x="472350" y="1195225"/>
            <a:ext cx="8520600" cy="3479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625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4364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6113">
                <a:solidFill>
                  <a:schemeClr val="dk1"/>
                </a:solidFill>
              </a:rPr>
              <a:t>What is Autopsy Digital Forensic?</a:t>
            </a:r>
            <a:endParaRPr b="1" sz="6113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3716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5391">
                <a:solidFill>
                  <a:schemeClr val="dk1"/>
                </a:solidFill>
              </a:rPr>
              <a:t>Why is it important for the Recognition?</a:t>
            </a:r>
            <a:endParaRPr b="1" sz="5391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>
              <a:solidFill>
                <a:schemeClr val="dk1"/>
              </a:solidFill>
            </a:endParaRPr>
          </a:p>
        </p:txBody>
      </p:sp>
      <p:pic>
        <p:nvPicPr>
          <p:cNvPr id="83" name="Google Shape;83;p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881925" y="53450"/>
            <a:ext cx="981550" cy="981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84" name="Google Shape;84;p16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42875" y="4179275"/>
            <a:ext cx="792600" cy="792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9" name="Google Shape;89;p1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881925" y="53450"/>
            <a:ext cx="981550" cy="981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90" name="Google Shape;90;p17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42875" y="4179275"/>
            <a:ext cx="792600" cy="792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1" name="Google Shape;91;p17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534613" y="1035000"/>
            <a:ext cx="6074775" cy="3623550"/>
          </a:xfrm>
          <a:prstGeom prst="rect">
            <a:avLst/>
          </a:prstGeom>
          <a:noFill/>
          <a:ln>
            <a:noFill/>
          </a:ln>
        </p:spPr>
      </p:pic>
      <p:sp>
        <p:nvSpPr>
          <p:cNvPr id="92" name="Google Shape;92;p17"/>
          <p:cNvSpPr txBox="1"/>
          <p:nvPr>
            <p:ph type="ctrTitle"/>
          </p:nvPr>
        </p:nvSpPr>
        <p:spPr>
          <a:xfrm>
            <a:off x="1343075" y="-226500"/>
            <a:ext cx="8298000" cy="1261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1200"/>
              </a:spcBef>
              <a:spcAft>
                <a:spcPts val="600"/>
              </a:spcAft>
              <a:buNone/>
            </a:pPr>
            <a:r>
              <a:rPr b="1" lang="es" sz="4800">
                <a:solidFill>
                  <a:schemeClr val="lt1"/>
                </a:solidFill>
              </a:rPr>
              <a:t>Phase 1: Wordpress</a:t>
            </a:r>
            <a:endParaRPr b="1" sz="48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7" name="Google Shape;97;p1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881925" y="53450"/>
            <a:ext cx="981550" cy="981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18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42875" y="4179275"/>
            <a:ext cx="792600" cy="792600"/>
          </a:xfrm>
          <a:prstGeom prst="rect">
            <a:avLst/>
          </a:prstGeom>
          <a:noFill/>
          <a:ln>
            <a:noFill/>
          </a:ln>
        </p:spPr>
      </p:pic>
      <p:sp>
        <p:nvSpPr>
          <p:cNvPr id="99" name="Google Shape;99;p18"/>
          <p:cNvSpPr txBox="1"/>
          <p:nvPr>
            <p:ph type="ctrTitle"/>
          </p:nvPr>
        </p:nvSpPr>
        <p:spPr>
          <a:xfrm>
            <a:off x="1343075" y="-226500"/>
            <a:ext cx="6538800" cy="1179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1200"/>
              </a:spcBef>
              <a:spcAft>
                <a:spcPts val="600"/>
              </a:spcAft>
              <a:buSzPts val="990"/>
              <a:buNone/>
            </a:pPr>
            <a:r>
              <a:rPr b="1" lang="es" sz="3520">
                <a:solidFill>
                  <a:schemeClr val="lt1"/>
                </a:solidFill>
              </a:rPr>
              <a:t>Phase 1: Suspicious Findings</a:t>
            </a:r>
            <a:endParaRPr b="1" sz="3520">
              <a:solidFill>
                <a:schemeClr val="lt1"/>
              </a:solidFill>
            </a:endParaRPr>
          </a:p>
        </p:txBody>
      </p:sp>
      <p:sp>
        <p:nvSpPr>
          <p:cNvPr id="100" name="Google Shape;100;p18"/>
          <p:cNvSpPr txBox="1"/>
          <p:nvPr>
            <p:ph idx="1" type="subTitle"/>
          </p:nvPr>
        </p:nvSpPr>
        <p:spPr>
          <a:xfrm>
            <a:off x="429975" y="1164600"/>
            <a:ext cx="4646400" cy="3199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746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Char char="●"/>
            </a:pPr>
            <a:r>
              <a:rPr b="1" lang="es" sz="2300">
                <a:solidFill>
                  <a:schemeClr val="dk1"/>
                </a:solidFill>
              </a:rPr>
              <a:t>Suspicious Login Attempts</a:t>
            </a:r>
            <a:endParaRPr b="1" sz="23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300">
              <a:solidFill>
                <a:schemeClr val="dk1"/>
              </a:solidFill>
            </a:endParaRPr>
          </a:p>
          <a:p>
            <a:pPr indent="-3746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Char char="●"/>
            </a:pPr>
            <a:r>
              <a:rPr b="1" lang="es" sz="2300">
                <a:solidFill>
                  <a:schemeClr val="dk1"/>
                </a:solidFill>
              </a:rPr>
              <a:t>Suspicious Code:</a:t>
            </a:r>
            <a:br>
              <a:rPr b="1" lang="es" sz="2300">
                <a:solidFill>
                  <a:schemeClr val="dk1"/>
                </a:solidFill>
              </a:rPr>
            </a:br>
            <a:r>
              <a:rPr b="1" lang="es" sz="2300">
                <a:solidFill>
                  <a:schemeClr val="dk1"/>
                </a:solidFill>
              </a:rPr>
              <a:t>UNICODE inside important files.</a:t>
            </a:r>
            <a:endParaRPr b="1" sz="2300">
              <a:solidFill>
                <a:schemeClr val="dk1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300">
              <a:solidFill>
                <a:schemeClr val="dk1"/>
              </a:solidFill>
            </a:endParaRPr>
          </a:p>
          <a:p>
            <a:pPr indent="-3746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Char char="●"/>
            </a:pPr>
            <a:r>
              <a:rPr b="1" lang="es" sz="2300">
                <a:solidFill>
                  <a:schemeClr val="dk1"/>
                </a:solidFill>
              </a:rPr>
              <a:t>Privileges Modification</a:t>
            </a:r>
            <a:endParaRPr b="1">
              <a:solidFill>
                <a:schemeClr val="dk1"/>
              </a:solidFill>
            </a:endParaRPr>
          </a:p>
        </p:txBody>
      </p:sp>
      <p:sp>
        <p:nvSpPr>
          <p:cNvPr id="101" name="Google Shape;101;p18"/>
          <p:cNvSpPr txBox="1"/>
          <p:nvPr/>
        </p:nvSpPr>
        <p:spPr>
          <a:xfrm>
            <a:off x="4892700" y="952500"/>
            <a:ext cx="4403700" cy="3498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1600">
                <a:solidFill>
                  <a:schemeClr val="lt1"/>
                </a:solidFill>
              </a:rPr>
              <a:t>UNKNOWN</a:t>
            </a:r>
            <a:endParaRPr b="1" sz="1600">
              <a:solidFill>
                <a:schemeClr val="lt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1600">
                <a:solidFill>
                  <a:schemeClr val="lt1"/>
                </a:solidFill>
              </a:rPr>
              <a:t>SSH_ORIGINAL_COMMAND=</a:t>
            </a:r>
            <a:endParaRPr b="1" sz="1600">
              <a:solidFill>
                <a:schemeClr val="lt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1600">
                <a:solidFill>
                  <a:schemeClr val="lt1"/>
                </a:solidFill>
              </a:rPr>
              <a:t>SSH_ORIGINAL_COMMAND</a:t>
            </a:r>
            <a:endParaRPr b="1" sz="1600">
              <a:solidFill>
                <a:schemeClr val="lt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1600">
                <a:solidFill>
                  <a:schemeClr val="lt1"/>
                </a:solidFill>
              </a:rPr>
              <a:t>nologin</a:t>
            </a:r>
            <a:endParaRPr b="1" sz="1600">
              <a:solidFill>
                <a:schemeClr val="lt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900">
              <a:solidFill>
                <a:schemeClr val="lt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1700">
                <a:solidFill>
                  <a:schemeClr val="lt1"/>
                </a:solidFill>
              </a:rPr>
              <a:t>bash        if on_ac_power; then</a:t>
            </a:r>
            <a:endParaRPr b="1" sz="1700">
              <a:solidFill>
                <a:schemeClr val="lt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1700">
                <a:solidFill>
                  <a:schemeClr val="lt1"/>
                </a:solidFill>
              </a:rPr>
              <a:t>†††††</a:t>
            </a:r>
            <a:endParaRPr b="1" sz="1700">
              <a:solidFill>
                <a:schemeClr val="lt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1700">
                <a:solidFill>
                  <a:schemeClr val="lt1"/>
                </a:solidFill>
              </a:rPr>
              <a:t>†††</a:t>
            </a:r>
            <a:endParaRPr b="1" sz="1700">
              <a:solidFill>
                <a:schemeClr val="lt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700">
              <a:solidFill>
                <a:schemeClr val="lt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700">
              <a:solidFill>
                <a:schemeClr val="lt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700">
              <a:solidFill>
                <a:schemeClr val="lt1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02" name="Google Shape;102;p18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4698250" y="3389975"/>
            <a:ext cx="4295775" cy="344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7" name="Google Shape;107;p1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881925" y="53450"/>
            <a:ext cx="981550" cy="981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8" name="Google Shape;108;p19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42875" y="4179275"/>
            <a:ext cx="792600" cy="792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19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2659450" y="1196100"/>
            <a:ext cx="4229100" cy="2867025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19"/>
          <p:cNvSpPr txBox="1"/>
          <p:nvPr>
            <p:ph type="ctrTitle"/>
          </p:nvPr>
        </p:nvSpPr>
        <p:spPr>
          <a:xfrm>
            <a:off x="1666300" y="-226500"/>
            <a:ext cx="6215400" cy="1179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1200"/>
              </a:spcBef>
              <a:spcAft>
                <a:spcPts val="600"/>
              </a:spcAft>
              <a:buSzPts val="990"/>
              <a:buNone/>
            </a:pPr>
            <a:r>
              <a:rPr b="1" lang="es" sz="3820">
                <a:solidFill>
                  <a:schemeClr val="lt1"/>
                </a:solidFill>
              </a:rPr>
              <a:t>Phase 1: Conclusions</a:t>
            </a:r>
            <a:endParaRPr b="1" sz="382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5" name="Google Shape;115;p2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881925" y="53450"/>
            <a:ext cx="981550" cy="981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6" name="Google Shape;116;p2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42875" y="4179275"/>
            <a:ext cx="792600" cy="792600"/>
          </a:xfrm>
          <a:prstGeom prst="rect">
            <a:avLst/>
          </a:prstGeom>
          <a:noFill/>
          <a:ln>
            <a:noFill/>
          </a:ln>
        </p:spPr>
      </p:pic>
      <p:sp>
        <p:nvSpPr>
          <p:cNvPr id="117" name="Google Shape;117;p20"/>
          <p:cNvSpPr txBox="1"/>
          <p:nvPr/>
        </p:nvSpPr>
        <p:spPr>
          <a:xfrm>
            <a:off x="1258175" y="1163725"/>
            <a:ext cx="7605300" cy="306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5900">
                <a:solidFill>
                  <a:schemeClr val="dk1"/>
                </a:solidFill>
              </a:rPr>
              <a:t>Phase 2:</a:t>
            </a:r>
            <a:endParaRPr b="1" sz="59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3700">
                <a:solidFill>
                  <a:schemeClr val="dk1"/>
                </a:solidFill>
              </a:rPr>
              <a:t>Vulnerabilities </a:t>
            </a:r>
            <a:endParaRPr b="1" sz="37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3700">
                <a:solidFill>
                  <a:schemeClr val="dk1"/>
                </a:solidFill>
              </a:rPr>
              <a:t>         &amp;</a:t>
            </a:r>
            <a:endParaRPr b="1" sz="37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s" sz="3700">
                <a:solidFill>
                  <a:schemeClr val="dk1"/>
                </a:solidFill>
              </a:rPr>
              <a:t>Exploitation</a:t>
            </a:r>
            <a:endParaRPr b="1" sz="7600">
              <a:solidFill>
                <a:schemeClr val="dk1"/>
              </a:solidFill>
            </a:endParaRPr>
          </a:p>
        </p:txBody>
      </p:sp>
      <p:pic>
        <p:nvPicPr>
          <p:cNvPr id="118" name="Google Shape;118;p20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207725" y="1163725"/>
            <a:ext cx="2856925" cy="28160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3" name="Google Shape;123;p2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881925" y="53450"/>
            <a:ext cx="981550" cy="981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4" name="Google Shape;124;p21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42875" y="4179275"/>
            <a:ext cx="792600" cy="792600"/>
          </a:xfrm>
          <a:prstGeom prst="rect">
            <a:avLst/>
          </a:prstGeom>
          <a:noFill/>
          <a:ln>
            <a:noFill/>
          </a:ln>
        </p:spPr>
      </p:pic>
      <p:sp>
        <p:nvSpPr>
          <p:cNvPr id="125" name="Google Shape;125;p21"/>
          <p:cNvSpPr txBox="1"/>
          <p:nvPr>
            <p:ph type="ctrTitle"/>
          </p:nvPr>
        </p:nvSpPr>
        <p:spPr>
          <a:xfrm>
            <a:off x="1666300" y="-226500"/>
            <a:ext cx="6215400" cy="1160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1200"/>
              </a:spcBef>
              <a:spcAft>
                <a:spcPts val="600"/>
              </a:spcAft>
              <a:buSzPts val="990"/>
              <a:buNone/>
            </a:pPr>
            <a:r>
              <a:rPr b="1" lang="es" sz="3620">
                <a:solidFill>
                  <a:schemeClr val="lt1"/>
                </a:solidFill>
              </a:rPr>
              <a:t>Phase 2: Exploitation Tools</a:t>
            </a:r>
            <a:endParaRPr b="1" sz="3220">
              <a:solidFill>
                <a:schemeClr val="lt1"/>
              </a:solidFill>
            </a:endParaRPr>
          </a:p>
        </p:txBody>
      </p:sp>
      <p:sp>
        <p:nvSpPr>
          <p:cNvPr id="126" name="Google Shape;126;p21"/>
          <p:cNvSpPr txBox="1"/>
          <p:nvPr>
            <p:ph idx="1" type="subTitle"/>
          </p:nvPr>
        </p:nvSpPr>
        <p:spPr>
          <a:xfrm>
            <a:off x="679375" y="1289900"/>
            <a:ext cx="3550200" cy="3074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4254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Char char="●"/>
            </a:pPr>
            <a:r>
              <a:rPr b="1" lang="es" sz="3100">
                <a:solidFill>
                  <a:schemeClr val="dk1"/>
                </a:solidFill>
              </a:rPr>
              <a:t>Nmap</a:t>
            </a:r>
            <a:endParaRPr b="1" sz="3100">
              <a:solidFill>
                <a:schemeClr val="dk1"/>
              </a:solidFill>
            </a:endParaRPr>
          </a:p>
          <a:p>
            <a:pPr indent="-4254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Char char="●"/>
            </a:pPr>
            <a:r>
              <a:rPr b="1" lang="es">
                <a:solidFill>
                  <a:schemeClr val="dk1"/>
                </a:solidFill>
              </a:rPr>
              <a:t>Gobuster </a:t>
            </a:r>
            <a:endParaRPr b="1">
              <a:solidFill>
                <a:schemeClr val="dk1"/>
              </a:solidFill>
            </a:endParaRPr>
          </a:p>
          <a:p>
            <a:pPr indent="-4254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Char char="●"/>
            </a:pPr>
            <a:r>
              <a:rPr b="1" lang="es">
                <a:solidFill>
                  <a:schemeClr val="dk1"/>
                </a:solidFill>
              </a:rPr>
              <a:t>WpScan </a:t>
            </a:r>
            <a:endParaRPr b="1">
              <a:solidFill>
                <a:schemeClr val="dk1"/>
              </a:solidFill>
            </a:endParaRPr>
          </a:p>
          <a:p>
            <a:pPr indent="-4254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Char char="●"/>
            </a:pPr>
            <a:r>
              <a:rPr b="1" lang="es">
                <a:solidFill>
                  <a:schemeClr val="dk1"/>
                </a:solidFill>
              </a:rPr>
              <a:t>SSH (Default)</a:t>
            </a:r>
            <a:endParaRPr b="1">
              <a:solidFill>
                <a:schemeClr val="dk1"/>
              </a:solidFill>
            </a:endParaRPr>
          </a:p>
          <a:p>
            <a:pPr indent="-4254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Char char="●"/>
            </a:pPr>
            <a:r>
              <a:rPr b="1" lang="es">
                <a:solidFill>
                  <a:schemeClr val="dk1"/>
                </a:solidFill>
              </a:rPr>
              <a:t>FTP (Default)</a:t>
            </a:r>
            <a:endParaRPr b="1" sz="3100">
              <a:solidFill>
                <a:schemeClr val="dk1"/>
              </a:solidFill>
            </a:endParaRPr>
          </a:p>
        </p:txBody>
      </p:sp>
      <p:pic>
        <p:nvPicPr>
          <p:cNvPr id="127" name="Google Shape;127;p21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3605950" y="1551300"/>
            <a:ext cx="5405625" cy="2040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881925" y="53450"/>
            <a:ext cx="981550" cy="981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2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42875" y="4179275"/>
            <a:ext cx="792600" cy="792600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2"/>
          <p:cNvSpPr txBox="1"/>
          <p:nvPr>
            <p:ph type="ctrTitle"/>
          </p:nvPr>
        </p:nvSpPr>
        <p:spPr>
          <a:xfrm>
            <a:off x="1666300" y="-226500"/>
            <a:ext cx="6215400" cy="1160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1200"/>
              </a:spcBef>
              <a:spcAft>
                <a:spcPts val="600"/>
              </a:spcAft>
              <a:buSzPts val="990"/>
              <a:buNone/>
            </a:pPr>
            <a:r>
              <a:rPr b="1" lang="es" sz="3420">
                <a:solidFill>
                  <a:schemeClr val="lt1"/>
                </a:solidFill>
              </a:rPr>
              <a:t>Phase 2: Server Machine</a:t>
            </a:r>
            <a:endParaRPr b="1" sz="3020">
              <a:solidFill>
                <a:schemeClr val="lt1"/>
              </a:solidFill>
            </a:endParaRPr>
          </a:p>
        </p:txBody>
      </p:sp>
      <p:pic>
        <p:nvPicPr>
          <p:cNvPr id="135" name="Google Shape;135;p22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4385120" y="2296325"/>
            <a:ext cx="4225905" cy="16075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6" name="Google Shape;136;p22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641275" y="1925088"/>
            <a:ext cx="3440800" cy="2120500"/>
          </a:xfrm>
          <a:prstGeom prst="rect">
            <a:avLst/>
          </a:prstGeom>
          <a:noFill/>
          <a:ln>
            <a:noFill/>
          </a:ln>
        </p:spPr>
      </p:pic>
      <p:sp>
        <p:nvSpPr>
          <p:cNvPr id="137" name="Google Shape;137;p22"/>
          <p:cNvSpPr txBox="1"/>
          <p:nvPr>
            <p:ph idx="1" type="subTitle"/>
          </p:nvPr>
        </p:nvSpPr>
        <p:spPr>
          <a:xfrm>
            <a:off x="712825" y="1198075"/>
            <a:ext cx="3550200" cy="2180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3100">
                <a:solidFill>
                  <a:schemeClr val="dk1"/>
                </a:solidFill>
              </a:rPr>
              <a:t>Wordpress</a:t>
            </a:r>
            <a:endParaRPr b="1" sz="3100">
              <a:solidFill>
                <a:schemeClr val="dk1"/>
              </a:solidFill>
            </a:endParaRPr>
          </a:p>
        </p:txBody>
      </p:sp>
      <p:sp>
        <p:nvSpPr>
          <p:cNvPr id="138" name="Google Shape;138;p22"/>
          <p:cNvSpPr txBox="1"/>
          <p:nvPr>
            <p:ph idx="1" type="subTitle"/>
          </p:nvPr>
        </p:nvSpPr>
        <p:spPr>
          <a:xfrm>
            <a:off x="4913975" y="1198075"/>
            <a:ext cx="3697200" cy="3074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3100">
                <a:solidFill>
                  <a:schemeClr val="dk1"/>
                </a:solidFill>
              </a:rPr>
              <a:t>MySQL</a:t>
            </a:r>
            <a:br>
              <a:rPr b="1" lang="es" sz="3100">
                <a:solidFill>
                  <a:schemeClr val="dk1"/>
                </a:solidFill>
              </a:rPr>
            </a:br>
            <a:r>
              <a:rPr b="1" lang="es" sz="3100">
                <a:solidFill>
                  <a:schemeClr val="dk1"/>
                </a:solidFill>
              </a:rPr>
              <a:t>MariaDB</a:t>
            </a:r>
            <a:endParaRPr b="1" sz="31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3" name="Google Shape;143;p2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881925" y="53450"/>
            <a:ext cx="981550" cy="981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23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42875" y="4179275"/>
            <a:ext cx="792600" cy="792600"/>
          </a:xfrm>
          <a:prstGeom prst="rect">
            <a:avLst/>
          </a:prstGeom>
          <a:noFill/>
          <a:ln>
            <a:noFill/>
          </a:ln>
        </p:spPr>
      </p:pic>
      <p:sp>
        <p:nvSpPr>
          <p:cNvPr id="145" name="Google Shape;145;p23"/>
          <p:cNvSpPr txBox="1"/>
          <p:nvPr>
            <p:ph type="ctrTitle"/>
          </p:nvPr>
        </p:nvSpPr>
        <p:spPr>
          <a:xfrm>
            <a:off x="1666300" y="-226500"/>
            <a:ext cx="6215400" cy="1160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1200"/>
              </a:spcBef>
              <a:spcAft>
                <a:spcPts val="600"/>
              </a:spcAft>
              <a:buSzPts val="990"/>
              <a:buNone/>
            </a:pPr>
            <a:r>
              <a:rPr b="1" lang="es" sz="3420">
                <a:solidFill>
                  <a:schemeClr val="lt1"/>
                </a:solidFill>
              </a:rPr>
              <a:t>Phase 2: New Vulnerability</a:t>
            </a:r>
            <a:endParaRPr b="1" sz="3020">
              <a:solidFill>
                <a:schemeClr val="lt1"/>
              </a:solidFill>
            </a:endParaRPr>
          </a:p>
        </p:txBody>
      </p:sp>
      <p:sp>
        <p:nvSpPr>
          <p:cNvPr id="146" name="Google Shape;146;p23"/>
          <p:cNvSpPr txBox="1"/>
          <p:nvPr>
            <p:ph idx="1" type="subTitle"/>
          </p:nvPr>
        </p:nvSpPr>
        <p:spPr>
          <a:xfrm>
            <a:off x="712838" y="1152175"/>
            <a:ext cx="3776700" cy="2180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3100">
                <a:solidFill>
                  <a:schemeClr val="dk1"/>
                </a:solidFill>
              </a:rPr>
              <a:t>Creating the Script</a:t>
            </a:r>
            <a:endParaRPr b="1" sz="3100">
              <a:solidFill>
                <a:schemeClr val="dk1"/>
              </a:solidFill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s" sz="2200" u="sng">
                <a:solidFill>
                  <a:schemeClr val="lt1"/>
                </a:solidFill>
                <a:hlinkClick r:id="rId6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https://www.revshells.com/</a:t>
            </a:r>
            <a:endParaRPr b="1" sz="4200">
              <a:solidFill>
                <a:schemeClr val="lt1"/>
              </a:solidFill>
            </a:endParaRPr>
          </a:p>
        </p:txBody>
      </p:sp>
      <p:sp>
        <p:nvSpPr>
          <p:cNvPr id="147" name="Google Shape;147;p23"/>
          <p:cNvSpPr txBox="1"/>
          <p:nvPr>
            <p:ph type="ctrTitle"/>
          </p:nvPr>
        </p:nvSpPr>
        <p:spPr>
          <a:xfrm>
            <a:off x="1726900" y="3753800"/>
            <a:ext cx="7136700" cy="1160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1200"/>
              </a:spcBef>
              <a:spcAft>
                <a:spcPts val="600"/>
              </a:spcAft>
              <a:buSzPts val="990"/>
              <a:buNone/>
            </a:pPr>
            <a:r>
              <a:rPr b="1" lang="es" sz="3420">
                <a:solidFill>
                  <a:schemeClr val="lt1"/>
                </a:solidFill>
              </a:rPr>
              <a:t>Backdoor Service / Reverse Shell</a:t>
            </a:r>
            <a:endParaRPr b="1" sz="3020">
              <a:solidFill>
                <a:schemeClr val="lt1"/>
              </a:solidFill>
            </a:endParaRPr>
          </a:p>
        </p:txBody>
      </p:sp>
      <p:pic>
        <p:nvPicPr>
          <p:cNvPr id="148" name="Google Shape;148;p23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486638" y="2201819"/>
            <a:ext cx="4229125" cy="1742231"/>
          </a:xfrm>
          <a:prstGeom prst="rect">
            <a:avLst/>
          </a:prstGeom>
          <a:noFill/>
          <a:ln>
            <a:noFill/>
          </a:ln>
        </p:spPr>
      </p:pic>
      <p:sp>
        <p:nvSpPr>
          <p:cNvPr id="149" name="Google Shape;149;p23"/>
          <p:cNvSpPr txBox="1"/>
          <p:nvPr>
            <p:ph idx="1" type="subTitle"/>
          </p:nvPr>
        </p:nvSpPr>
        <p:spPr>
          <a:xfrm>
            <a:off x="4824450" y="1152175"/>
            <a:ext cx="4117500" cy="2180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3100">
                <a:solidFill>
                  <a:schemeClr val="dk1"/>
                </a:solidFill>
              </a:rPr>
              <a:t>  Creating a Service</a:t>
            </a:r>
            <a:endParaRPr b="1" sz="4200">
              <a:solidFill>
                <a:schemeClr val="lt1"/>
              </a:solidFill>
            </a:endParaRPr>
          </a:p>
        </p:txBody>
      </p:sp>
      <p:pic>
        <p:nvPicPr>
          <p:cNvPr id="150" name="Google Shape;150;p23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5118350" y="1703900"/>
            <a:ext cx="3399050" cy="22401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5" name="Google Shape;155;p2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881925" y="53450"/>
            <a:ext cx="981550" cy="981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6" name="Google Shape;156;p24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42875" y="4179275"/>
            <a:ext cx="792600" cy="792600"/>
          </a:xfrm>
          <a:prstGeom prst="rect">
            <a:avLst/>
          </a:prstGeom>
          <a:noFill/>
          <a:ln>
            <a:noFill/>
          </a:ln>
        </p:spPr>
      </p:pic>
      <p:sp>
        <p:nvSpPr>
          <p:cNvPr id="157" name="Google Shape;157;p24"/>
          <p:cNvSpPr txBox="1"/>
          <p:nvPr/>
        </p:nvSpPr>
        <p:spPr>
          <a:xfrm>
            <a:off x="1258175" y="1115075"/>
            <a:ext cx="7605300" cy="306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5900">
                <a:solidFill>
                  <a:schemeClr val="dk1"/>
                </a:solidFill>
              </a:rPr>
              <a:t>Phase 3:</a:t>
            </a:r>
            <a:endParaRPr b="1" sz="59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5900">
                <a:solidFill>
                  <a:schemeClr val="dk1"/>
                </a:solidFill>
              </a:rPr>
              <a:t>Patching</a:t>
            </a:r>
            <a:endParaRPr b="1" sz="59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4200">
                <a:solidFill>
                  <a:schemeClr val="dk1"/>
                </a:solidFill>
              </a:rPr>
              <a:t>&amp; Hardening</a:t>
            </a:r>
            <a:endParaRPr b="1" sz="4200">
              <a:solidFill>
                <a:schemeClr val="dk1"/>
              </a:solidFill>
            </a:endParaRPr>
          </a:p>
        </p:txBody>
      </p:sp>
      <p:pic>
        <p:nvPicPr>
          <p:cNvPr id="158" name="Google Shape;158;p24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097224" y="1157149"/>
            <a:ext cx="3043400" cy="2829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3" name="Google Shape;163;p2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881925" y="53450"/>
            <a:ext cx="981550" cy="981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4" name="Google Shape;164;p25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42875" y="4179275"/>
            <a:ext cx="792600" cy="792600"/>
          </a:xfrm>
          <a:prstGeom prst="rect">
            <a:avLst/>
          </a:prstGeom>
          <a:noFill/>
          <a:ln>
            <a:noFill/>
          </a:ln>
        </p:spPr>
      </p:pic>
      <p:sp>
        <p:nvSpPr>
          <p:cNvPr id="165" name="Google Shape;165;p25"/>
          <p:cNvSpPr txBox="1"/>
          <p:nvPr>
            <p:ph type="ctrTitle"/>
          </p:nvPr>
        </p:nvSpPr>
        <p:spPr>
          <a:xfrm>
            <a:off x="1666300" y="-226500"/>
            <a:ext cx="6215400" cy="1160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1200"/>
              </a:spcBef>
              <a:spcAft>
                <a:spcPts val="600"/>
              </a:spcAft>
              <a:buSzPts val="990"/>
              <a:buNone/>
            </a:pPr>
            <a:r>
              <a:rPr b="1" lang="es" sz="3220">
                <a:solidFill>
                  <a:schemeClr val="lt1"/>
                </a:solidFill>
              </a:rPr>
              <a:t>Phase 3: Fixing Vulnerabilities</a:t>
            </a:r>
            <a:endParaRPr b="1" sz="2820">
              <a:solidFill>
                <a:schemeClr val="lt1"/>
              </a:solidFill>
            </a:endParaRPr>
          </a:p>
        </p:txBody>
      </p:sp>
      <p:sp>
        <p:nvSpPr>
          <p:cNvPr id="166" name="Google Shape;166;p25"/>
          <p:cNvSpPr txBox="1"/>
          <p:nvPr>
            <p:ph idx="1" type="subTitle"/>
          </p:nvPr>
        </p:nvSpPr>
        <p:spPr>
          <a:xfrm>
            <a:off x="729900" y="1252600"/>
            <a:ext cx="3842100" cy="3074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810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Char char="●"/>
            </a:pPr>
            <a:r>
              <a:rPr b="1" lang="es" sz="2400">
                <a:solidFill>
                  <a:schemeClr val="dk1"/>
                </a:solidFill>
              </a:rPr>
              <a:t>Delete the backdoor</a:t>
            </a:r>
            <a:endParaRPr b="1" sz="2400">
              <a:solidFill>
                <a:schemeClr val="dk1"/>
              </a:solidFill>
            </a:endParaRPr>
          </a:p>
          <a:p>
            <a:pPr indent="-3810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Char char="●"/>
            </a:pPr>
            <a:r>
              <a:rPr b="1" lang="es" sz="2400">
                <a:solidFill>
                  <a:schemeClr val="dk1"/>
                </a:solidFill>
              </a:rPr>
              <a:t>Updating the machine</a:t>
            </a:r>
            <a:endParaRPr b="1" sz="2400">
              <a:solidFill>
                <a:schemeClr val="dk1"/>
              </a:solidFill>
            </a:endParaRPr>
          </a:p>
          <a:p>
            <a:pPr indent="-3810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Char char="●"/>
            </a:pPr>
            <a:r>
              <a:rPr b="1" lang="es" sz="2400">
                <a:solidFill>
                  <a:schemeClr val="dk1"/>
                </a:solidFill>
              </a:rPr>
              <a:t>Creating a new update service</a:t>
            </a:r>
            <a:endParaRPr b="1" sz="2400">
              <a:solidFill>
                <a:schemeClr val="dk1"/>
              </a:solidFill>
            </a:endParaRPr>
          </a:p>
          <a:p>
            <a:pPr indent="-3810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Char char="●"/>
            </a:pPr>
            <a:r>
              <a:rPr b="1" lang="es" sz="2400">
                <a:solidFill>
                  <a:schemeClr val="dk1"/>
                </a:solidFill>
              </a:rPr>
              <a:t>Deleting or </a:t>
            </a:r>
            <a:r>
              <a:rPr b="1" lang="es" sz="2400">
                <a:solidFill>
                  <a:schemeClr val="dk1"/>
                </a:solidFill>
              </a:rPr>
              <a:t>changing vulnerable Users</a:t>
            </a:r>
            <a:endParaRPr b="1" sz="2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3100">
              <a:solidFill>
                <a:schemeClr val="dk1"/>
              </a:solidFill>
            </a:endParaRPr>
          </a:p>
        </p:txBody>
      </p:sp>
      <p:pic>
        <p:nvPicPr>
          <p:cNvPr id="167" name="Google Shape;167;p25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4572000" y="1340774"/>
            <a:ext cx="4184725" cy="702088"/>
          </a:xfrm>
          <a:prstGeom prst="rect">
            <a:avLst/>
          </a:prstGeom>
          <a:noFill/>
          <a:ln>
            <a:noFill/>
          </a:ln>
        </p:spPr>
      </p:pic>
      <p:pic>
        <p:nvPicPr>
          <p:cNvPr id="168" name="Google Shape;168;p25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5461363" y="2176475"/>
            <a:ext cx="2406000" cy="18306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3" name="Google Shape;173;p2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881925" y="53450"/>
            <a:ext cx="981550" cy="981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4" name="Google Shape;174;p26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42875" y="4179275"/>
            <a:ext cx="792600" cy="792600"/>
          </a:xfrm>
          <a:prstGeom prst="rect">
            <a:avLst/>
          </a:prstGeom>
          <a:noFill/>
          <a:ln>
            <a:noFill/>
          </a:ln>
        </p:spPr>
      </p:pic>
      <p:sp>
        <p:nvSpPr>
          <p:cNvPr id="175" name="Google Shape;175;p26"/>
          <p:cNvSpPr txBox="1"/>
          <p:nvPr>
            <p:ph type="ctrTitle"/>
          </p:nvPr>
        </p:nvSpPr>
        <p:spPr>
          <a:xfrm>
            <a:off x="1666300" y="-226500"/>
            <a:ext cx="6215400" cy="1160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1200"/>
              </a:spcBef>
              <a:spcAft>
                <a:spcPts val="600"/>
              </a:spcAft>
              <a:buSzPts val="990"/>
              <a:buNone/>
            </a:pPr>
            <a:r>
              <a:rPr b="1" lang="es" sz="3220">
                <a:solidFill>
                  <a:schemeClr val="lt1"/>
                </a:solidFill>
              </a:rPr>
              <a:t>Phase 3: Hardening Tools</a:t>
            </a:r>
            <a:endParaRPr b="1" sz="2820">
              <a:solidFill>
                <a:schemeClr val="lt1"/>
              </a:solidFill>
            </a:endParaRPr>
          </a:p>
        </p:txBody>
      </p:sp>
      <p:sp>
        <p:nvSpPr>
          <p:cNvPr id="176" name="Google Shape;176;p26"/>
          <p:cNvSpPr txBox="1"/>
          <p:nvPr>
            <p:ph idx="1" type="subTitle"/>
          </p:nvPr>
        </p:nvSpPr>
        <p:spPr>
          <a:xfrm>
            <a:off x="805600" y="1034550"/>
            <a:ext cx="3766500" cy="3074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810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Char char="●"/>
            </a:pPr>
            <a:r>
              <a:rPr b="1" lang="es">
                <a:solidFill>
                  <a:schemeClr val="dk1"/>
                </a:solidFill>
              </a:rPr>
              <a:t>Installing UFW </a:t>
            </a:r>
            <a:r>
              <a:rPr lang="es" sz="1500">
                <a:solidFill>
                  <a:schemeClr val="dk1"/>
                </a:solidFill>
              </a:rPr>
              <a:t> </a:t>
            </a:r>
            <a:r>
              <a:rPr b="1" lang="es" sz="1600">
                <a:solidFill>
                  <a:schemeClr val="dk1"/>
                </a:solidFill>
              </a:rPr>
              <a:t>Uncomplicated Firewall</a:t>
            </a:r>
            <a:endParaRPr b="1" sz="1600">
              <a:solidFill>
                <a:schemeClr val="dk1"/>
              </a:solidFill>
            </a:endParaRPr>
          </a:p>
          <a:p>
            <a:pPr indent="-4254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Char char="●"/>
            </a:pPr>
            <a:r>
              <a:rPr b="1" lang="es" sz="3100">
                <a:solidFill>
                  <a:schemeClr val="dk1"/>
                </a:solidFill>
              </a:rPr>
              <a:t>Wazuh (SIEM)</a:t>
            </a:r>
            <a:endParaRPr b="1" sz="3100">
              <a:solidFill>
                <a:schemeClr val="dk1"/>
              </a:solidFill>
            </a:endParaRPr>
          </a:p>
          <a:p>
            <a:pPr indent="-3810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Char char="●"/>
            </a:pPr>
            <a:r>
              <a:rPr b="1" lang="es" sz="3100">
                <a:solidFill>
                  <a:schemeClr val="dk1"/>
                </a:solidFill>
              </a:rPr>
              <a:t>ClamAV </a:t>
            </a:r>
            <a:br>
              <a:rPr b="1" lang="es" sz="2400">
                <a:solidFill>
                  <a:schemeClr val="dk1"/>
                </a:solidFill>
              </a:rPr>
            </a:br>
            <a:r>
              <a:rPr b="1" lang="es" sz="1600">
                <a:solidFill>
                  <a:schemeClr val="dk1"/>
                </a:solidFill>
              </a:rPr>
              <a:t>Antivirus Open Source</a:t>
            </a:r>
            <a:endParaRPr b="1" sz="1600">
              <a:solidFill>
                <a:schemeClr val="dk1"/>
              </a:solidFill>
            </a:endParaRPr>
          </a:p>
          <a:p>
            <a:pPr indent="-4254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Char char="●"/>
            </a:pPr>
            <a:r>
              <a:rPr b="1" lang="es" sz="3100">
                <a:solidFill>
                  <a:schemeClr val="dk1"/>
                </a:solidFill>
              </a:rPr>
              <a:t>RKHunter</a:t>
            </a:r>
            <a:br>
              <a:rPr b="1" lang="es" sz="3100">
                <a:solidFill>
                  <a:schemeClr val="dk1"/>
                </a:solidFill>
              </a:rPr>
            </a:br>
            <a:r>
              <a:rPr b="1" lang="es" sz="1600">
                <a:solidFill>
                  <a:schemeClr val="dk1"/>
                </a:solidFill>
              </a:rPr>
              <a:t>Root Kit Hunter</a:t>
            </a:r>
            <a:endParaRPr b="1" sz="1600">
              <a:solidFill>
                <a:schemeClr val="dk1"/>
              </a:solidFill>
            </a:endParaRPr>
          </a:p>
        </p:txBody>
      </p:sp>
      <p:pic>
        <p:nvPicPr>
          <p:cNvPr id="177" name="Google Shape;177;p26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4778675" y="2969525"/>
            <a:ext cx="3904289" cy="792600"/>
          </a:xfrm>
          <a:prstGeom prst="rect">
            <a:avLst/>
          </a:prstGeom>
          <a:noFill/>
          <a:ln>
            <a:noFill/>
          </a:ln>
        </p:spPr>
      </p:pic>
      <p:sp>
        <p:nvSpPr>
          <p:cNvPr id="178" name="Google Shape;178;p26"/>
          <p:cNvSpPr txBox="1"/>
          <p:nvPr>
            <p:ph idx="1" type="subTitle"/>
          </p:nvPr>
        </p:nvSpPr>
        <p:spPr>
          <a:xfrm>
            <a:off x="4847575" y="1035000"/>
            <a:ext cx="3766500" cy="314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">
                <a:solidFill>
                  <a:schemeClr val="dk1"/>
                </a:solidFill>
              </a:rPr>
              <a:t>New Rules (UFW)</a:t>
            </a:r>
            <a:endParaRPr b="1">
              <a:solidFill>
                <a:schemeClr val="dk1"/>
              </a:solidFill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</a:pPr>
            <a:r>
              <a:rPr b="1" lang="es" sz="1600">
                <a:solidFill>
                  <a:schemeClr val="dk1"/>
                </a:solidFill>
              </a:rPr>
              <a:t>Blocking generic accesses</a:t>
            </a:r>
            <a:endParaRPr b="1" sz="16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600">
              <a:solidFill>
                <a:schemeClr val="dk1"/>
              </a:solidFill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</a:pPr>
            <a:r>
              <a:rPr b="1" lang="es" sz="1600">
                <a:solidFill>
                  <a:schemeClr val="dk1"/>
                </a:solidFill>
              </a:rPr>
              <a:t>Blocking Root access</a:t>
            </a:r>
            <a:endParaRPr b="1" sz="16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600">
              <a:solidFill>
                <a:schemeClr val="dk1"/>
              </a:solidFill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</a:pPr>
            <a:r>
              <a:rPr b="1" lang="es" sz="1600">
                <a:solidFill>
                  <a:schemeClr val="dk1"/>
                </a:solidFill>
              </a:rPr>
              <a:t>Opening Secure ports</a:t>
            </a:r>
            <a:endParaRPr b="1" sz="16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3" name="Google Shape;183;p2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881925" y="53450"/>
            <a:ext cx="981550" cy="981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4" name="Google Shape;184;p27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42875" y="4179275"/>
            <a:ext cx="792600" cy="792600"/>
          </a:xfrm>
          <a:prstGeom prst="rect">
            <a:avLst/>
          </a:prstGeom>
          <a:noFill/>
          <a:ln>
            <a:noFill/>
          </a:ln>
        </p:spPr>
      </p:pic>
      <p:sp>
        <p:nvSpPr>
          <p:cNvPr id="185" name="Google Shape;185;p27"/>
          <p:cNvSpPr txBox="1"/>
          <p:nvPr>
            <p:ph type="ctrTitle"/>
          </p:nvPr>
        </p:nvSpPr>
        <p:spPr>
          <a:xfrm>
            <a:off x="1666300" y="-226500"/>
            <a:ext cx="6215400" cy="1160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1200"/>
              </a:spcBef>
              <a:spcAft>
                <a:spcPts val="600"/>
              </a:spcAft>
              <a:buSzPts val="990"/>
              <a:buNone/>
            </a:pPr>
            <a:r>
              <a:rPr b="1" lang="es" sz="3220">
                <a:solidFill>
                  <a:schemeClr val="lt1"/>
                </a:solidFill>
              </a:rPr>
              <a:t>Phase 3: Gobernance Impact</a:t>
            </a:r>
            <a:endParaRPr b="1" sz="2820">
              <a:solidFill>
                <a:schemeClr val="lt1"/>
              </a:solidFill>
            </a:endParaRPr>
          </a:p>
        </p:txBody>
      </p:sp>
      <p:graphicFrame>
        <p:nvGraphicFramePr>
          <p:cNvPr id="186" name="Google Shape;186;p27"/>
          <p:cNvGraphicFramePr/>
          <p:nvPr/>
        </p:nvGraphicFramePr>
        <p:xfrm>
          <a:off x="952500" y="13917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{35C81E0B-FFA4-420F-9B5C-3853116F3F96}</a:tableStyleId>
              </a:tblPr>
              <a:tblGrid>
                <a:gridCol w="2413000"/>
                <a:gridCol w="2413000"/>
                <a:gridCol w="2413000"/>
              </a:tblGrid>
              <a:tr h="6595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" sz="1900"/>
                        <a:t>ISO Standards</a:t>
                      </a:r>
                      <a:endParaRPr b="1" sz="19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" sz="1500"/>
                        <a:t>27001/27002/27003</a:t>
                      </a:r>
                      <a:endParaRPr b="1" sz="15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" sz="1500"/>
                        <a:t>Market Exclusion</a:t>
                      </a:r>
                      <a:endParaRPr b="1" sz="1500"/>
                    </a:p>
                  </a:txBody>
                  <a:tcPr marT="91425" marB="91425" marR="91425" marL="91425">
                    <a:solidFill>
                      <a:schemeClr val="lt1"/>
                    </a:solidFill>
                  </a:tcPr>
                </a:tc>
              </a:tr>
              <a:tr h="6134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" sz="1900"/>
                        <a:t>NIST</a:t>
                      </a:r>
                      <a:endParaRPr b="1" sz="19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" sz="1500"/>
                        <a:t>CSF 2.0, SP 800-61, 800-53, 800-30</a:t>
                      </a:r>
                      <a:endParaRPr b="1" sz="15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" sz="1500"/>
                        <a:t>Market Exclusion</a:t>
                      </a:r>
                      <a:endParaRPr b="1" sz="1500"/>
                    </a:p>
                  </a:txBody>
                  <a:tcPr marT="91425" marB="91425" marR="91425" marL="91425">
                    <a:solidFill>
                      <a:schemeClr val="lt1"/>
                    </a:solidFill>
                  </a:tcPr>
                </a:tc>
              </a:tr>
              <a:tr h="6134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" sz="1900"/>
                        <a:t>EU Regulations</a:t>
                      </a:r>
                      <a:endParaRPr b="1" sz="19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" sz="1500"/>
                        <a:t>GDPR, NIS2 DORA</a:t>
                      </a:r>
                      <a:endParaRPr b="1" sz="15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" sz="1500"/>
                        <a:t>€20~35 millions OR 4~7% Global Net income</a:t>
                      </a:r>
                      <a:endParaRPr b="1" sz="1500"/>
                    </a:p>
                  </a:txBody>
                  <a:tcPr marT="91425" marB="91425" marR="91425" marL="91425">
                    <a:solidFill>
                      <a:schemeClr val="lt1"/>
                    </a:solidFill>
                  </a:tcPr>
                </a:tc>
              </a:tr>
              <a:tr h="4911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" sz="1900"/>
                        <a:t>US Regulations</a:t>
                      </a:r>
                      <a:endParaRPr b="1" sz="19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" sz="1500"/>
                        <a:t>HIPAA, CCPA, GLBA </a:t>
                      </a:r>
                      <a:endParaRPr b="1" sz="15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" sz="1500"/>
                        <a:t>$50k~100k per violation</a:t>
                      </a:r>
                      <a:endParaRPr b="1" sz="1500"/>
                    </a:p>
                  </a:txBody>
                  <a:tcPr marT="91425" marB="91425" marR="91425" marL="91425"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187" name="Google Shape;187;p27"/>
          <p:cNvSpPr txBox="1"/>
          <p:nvPr>
            <p:ph type="ctrTitle"/>
          </p:nvPr>
        </p:nvSpPr>
        <p:spPr>
          <a:xfrm>
            <a:off x="2884800" y="3990275"/>
            <a:ext cx="3374400" cy="981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1200"/>
              </a:spcBef>
              <a:spcAft>
                <a:spcPts val="600"/>
              </a:spcAft>
              <a:buSzPts val="990"/>
              <a:buNone/>
            </a:pPr>
            <a:r>
              <a:rPr b="1" lang="es" sz="4020">
                <a:solidFill>
                  <a:schemeClr val="lt1"/>
                </a:solidFill>
              </a:rPr>
              <a:t>Conclusions</a:t>
            </a:r>
            <a:endParaRPr b="1" sz="362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2" name="Google Shape;192;p2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881925" y="53450"/>
            <a:ext cx="981550" cy="981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3" name="Google Shape;193;p28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42875" y="4179275"/>
            <a:ext cx="792600" cy="792600"/>
          </a:xfrm>
          <a:prstGeom prst="rect">
            <a:avLst/>
          </a:prstGeom>
          <a:noFill/>
          <a:ln>
            <a:noFill/>
          </a:ln>
        </p:spPr>
      </p:pic>
      <p:sp>
        <p:nvSpPr>
          <p:cNvPr id="194" name="Google Shape;194;p28"/>
          <p:cNvSpPr txBox="1"/>
          <p:nvPr>
            <p:ph type="ctrTitle"/>
          </p:nvPr>
        </p:nvSpPr>
        <p:spPr>
          <a:xfrm>
            <a:off x="1666300" y="-226500"/>
            <a:ext cx="6215400" cy="1160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1200"/>
              </a:spcBef>
              <a:spcAft>
                <a:spcPts val="600"/>
              </a:spcAft>
              <a:buSzPts val="990"/>
              <a:buNone/>
            </a:pPr>
            <a:r>
              <a:rPr b="1" lang="es" sz="3220">
                <a:solidFill>
                  <a:schemeClr val="lt1"/>
                </a:solidFill>
              </a:rPr>
              <a:t>Phase 3: Gobernance Impact</a:t>
            </a:r>
            <a:endParaRPr b="1" sz="2820">
              <a:solidFill>
                <a:schemeClr val="lt1"/>
              </a:solidFill>
            </a:endParaRPr>
          </a:p>
        </p:txBody>
      </p:sp>
      <p:graphicFrame>
        <p:nvGraphicFramePr>
          <p:cNvPr id="195" name="Google Shape;195;p28"/>
          <p:cNvGraphicFramePr/>
          <p:nvPr/>
        </p:nvGraphicFramePr>
        <p:xfrm>
          <a:off x="952500" y="13917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{35C81E0B-FFA4-420F-9B5C-3853116F3F96}</a:tableStyleId>
              </a:tblPr>
              <a:tblGrid>
                <a:gridCol w="2413000"/>
                <a:gridCol w="2413000"/>
                <a:gridCol w="2413000"/>
              </a:tblGrid>
              <a:tr h="6595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" sz="1900"/>
                        <a:t>ISO Standards</a:t>
                      </a:r>
                      <a:endParaRPr b="1" sz="19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" sz="1500"/>
                        <a:t>27001/27002/27003</a:t>
                      </a:r>
                      <a:endParaRPr b="1" sz="15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" sz="1500"/>
                        <a:t>Market Exclusion</a:t>
                      </a:r>
                      <a:endParaRPr b="1" sz="1500"/>
                    </a:p>
                  </a:txBody>
                  <a:tcPr marT="91425" marB="91425" marR="91425" marL="91425">
                    <a:solidFill>
                      <a:schemeClr val="lt1"/>
                    </a:solidFill>
                  </a:tcPr>
                </a:tc>
              </a:tr>
              <a:tr h="6134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" sz="1900"/>
                        <a:t>NIST</a:t>
                      </a:r>
                      <a:endParaRPr b="1" sz="19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" sz="1500"/>
                        <a:t>CSF 2.0, SP 800-61, 800-53, 800-30</a:t>
                      </a:r>
                      <a:endParaRPr b="1" sz="15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" sz="1500"/>
                        <a:t>Market Exclusion</a:t>
                      </a:r>
                      <a:endParaRPr b="1" sz="1500"/>
                    </a:p>
                  </a:txBody>
                  <a:tcPr marT="91425" marB="91425" marR="91425" marL="91425">
                    <a:solidFill>
                      <a:schemeClr val="lt1"/>
                    </a:solidFill>
                  </a:tcPr>
                </a:tc>
              </a:tr>
              <a:tr h="6134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" sz="1900"/>
                        <a:t>EU Regulations</a:t>
                      </a:r>
                      <a:endParaRPr b="1" sz="19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" sz="1500"/>
                        <a:t>GDPR, NIS2 DORA</a:t>
                      </a:r>
                      <a:endParaRPr b="1" sz="15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" sz="1500"/>
                        <a:t>€20~35 millions OR 4~7% Global Net income</a:t>
                      </a:r>
                      <a:endParaRPr b="1" sz="1500"/>
                    </a:p>
                  </a:txBody>
                  <a:tcPr marT="91425" marB="91425" marR="91425" marL="91425">
                    <a:solidFill>
                      <a:schemeClr val="lt1"/>
                    </a:solidFill>
                  </a:tcPr>
                </a:tc>
              </a:tr>
              <a:tr h="4911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" sz="1900"/>
                        <a:t>US Regulations</a:t>
                      </a:r>
                      <a:endParaRPr b="1" sz="19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" sz="1500"/>
                        <a:t>HIPAA, CCPA, GLBA </a:t>
                      </a:r>
                      <a:endParaRPr b="1" sz="15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" sz="1500"/>
                        <a:t>$50k~100k per violation</a:t>
                      </a:r>
                      <a:endParaRPr b="1" sz="1500"/>
                    </a:p>
                  </a:txBody>
                  <a:tcPr marT="91425" marB="91425" marR="91425" marL="91425"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196" name="Google Shape;196;p28"/>
          <p:cNvSpPr txBox="1"/>
          <p:nvPr>
            <p:ph type="ctrTitle"/>
          </p:nvPr>
        </p:nvSpPr>
        <p:spPr>
          <a:xfrm>
            <a:off x="2884800" y="3990275"/>
            <a:ext cx="3374400" cy="981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1200"/>
              </a:spcBef>
              <a:spcAft>
                <a:spcPts val="600"/>
              </a:spcAft>
              <a:buSzPts val="990"/>
              <a:buNone/>
            </a:pPr>
            <a:r>
              <a:rPr b="1" lang="es" sz="4020">
                <a:solidFill>
                  <a:schemeClr val="lt1"/>
                </a:solidFill>
              </a:rPr>
              <a:t>Conclusions</a:t>
            </a:r>
            <a:endParaRPr b="1" sz="362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